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भारतीय सूचना प्रौद्योगिकी संस्थान सूरत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457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Indian Institute of Information Technology Surat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8229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</a:defRPr>
            </a:pPr>
            <a:r>
              <a:t>ભારતીય સૂચના પ્રૌદ્યોગિકી સંસ્થા સુરત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0972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AAAAA"/>
                </a:solidFill>
              </a:defRPr>
            </a:pPr>
            <a:r>
              <a:t>(An Institute of National Importance under Act of Parliament)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 i="1">
                <a:solidFill>
                  <a:srgbClr val="003366"/>
                </a:solidFill>
              </a:defRPr>
            </a:pPr>
            <a:r>
              <a:t>Presentation 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60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0000"/>
                </a:solidFill>
              </a:defRPr>
            </a:pPr>
            <a:r>
              <a:t>SMAT: Smart Attendance System Using Ultrasonic Audio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74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3366"/>
                </a:solidFill>
              </a:defRPr>
            </a:pPr>
            <a:r>
              <a:t>Group Members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393192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1">
                <a:solidFill>
                  <a:srgbClr val="000000"/>
                </a:solidFill>
              </a:defRPr>
            </a:pPr>
            <a:r>
              <a:t>&lt;Name&gt;                    &lt;Number&gt;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120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 i="1">
                <a:solidFill>
                  <a:srgbClr val="000000"/>
                </a:solidFill>
              </a:defRPr>
            </a:pPr>
            <a:r>
              <a:t>Under the guidance of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486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1">
                <a:solidFill>
                  <a:srgbClr val="008080"/>
                </a:solidFill>
              </a:defRPr>
            </a:pPr>
            <a:r>
              <a:t>&lt;Name of the Guide&gt;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6263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Department of Electronics and Communication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  Outline of Presentation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Department of Electronics and Communication Engineering  |  IIIT Surat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5303520" cy="594360"/>
          </a:xfrm>
          <a:prstGeom prst="roundRect">
            <a:avLst/>
          </a:prstGeom>
          <a:solidFill>
            <a:srgbClr val="006B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1.  Introduction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74519"/>
            <a:ext cx="5303520" cy="594360"/>
          </a:xfrm>
          <a:prstGeom prst="roundRect">
            <a:avLst/>
          </a:prstGeom>
          <a:solidFill>
            <a:srgbClr val="006B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2.  Literature Survey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651760"/>
            <a:ext cx="5303520" cy="594360"/>
          </a:xfrm>
          <a:prstGeom prst="roundRect">
            <a:avLst/>
          </a:prstGeom>
          <a:solidFill>
            <a:srgbClr val="006B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3.  Problem Statement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429000"/>
            <a:ext cx="5303520" cy="594360"/>
          </a:xfrm>
          <a:prstGeom prst="roundRect">
            <a:avLst/>
          </a:prstGeom>
          <a:solidFill>
            <a:srgbClr val="006B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4.  Proposed System Architecture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206240"/>
            <a:ext cx="5303520" cy="594360"/>
          </a:xfrm>
          <a:prstGeom prst="roundRect">
            <a:avLst/>
          </a:prstGeom>
          <a:solidFill>
            <a:srgbClr val="006B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5.  Hardware &amp; Software Requirements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83480"/>
            <a:ext cx="5303520" cy="594360"/>
          </a:xfrm>
          <a:prstGeom prst="roundRect">
            <a:avLst/>
          </a:prstGeom>
          <a:solidFill>
            <a:srgbClr val="006B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6.  Implementation Updates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097280"/>
            <a:ext cx="5303520" cy="594360"/>
          </a:xfrm>
          <a:prstGeom prst="round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7.  Results &amp; Demonstrations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874519"/>
            <a:ext cx="5303520" cy="594360"/>
          </a:xfrm>
          <a:prstGeom prst="round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8.  Advantages &amp; Applications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651760"/>
            <a:ext cx="5303520" cy="594360"/>
          </a:xfrm>
          <a:prstGeom prst="round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9.  Budget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3429000"/>
            <a:ext cx="5303520" cy="594360"/>
          </a:xfrm>
          <a:prstGeom prst="round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10. Workflow for Remaining Work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4206240"/>
            <a:ext cx="5303520" cy="594360"/>
          </a:xfrm>
          <a:prstGeom prst="round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11. Future Scope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4983480"/>
            <a:ext cx="5303520" cy="594360"/>
          </a:xfrm>
          <a:prstGeom prst="round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12. 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  Introduction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Department of Electronics and Communication Engineering  |  IIIT Surat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097280"/>
            <a:ext cx="5669280" cy="5029200"/>
          </a:xfrm>
          <a:prstGeom prst="roundRect">
            <a:avLst/>
          </a:prstGeom>
          <a:solidFill>
            <a:srgbClr val="E8F4FD"/>
          </a:solidFill>
          <a:ln w="25400">
            <a:solidFill>
              <a:srgbClr val="006B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660099"/>
                </a:solidFill>
              </a:defRPr>
            </a:pPr>
            <a:r>
              <a:t>SMAT – Smart Attendance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800" b="0">
                <a:solidFill>
                  <a:srgbClr val="000000"/>
                </a:solidFill>
              </a:defRPr>
            </a:pPr>
            <a:r>
              <a:t>▸  Uses ultrasonic audio signals (18-20 kHz) to mark attendance automatically</a:t>
            </a:r>
          </a:p>
          <a:p>
            <a:pPr>
              <a:spcBef>
                <a:spcPts val="800"/>
              </a:spcBef>
              <a:defRPr sz="1800" b="0">
                <a:solidFill>
                  <a:srgbClr val="000000"/>
                </a:solidFill>
              </a:defRPr>
            </a:pPr>
            <a:r>
              <a:t>▸  Teacher's device broadcasts inaudible sound; student's device receives &amp; decodes it</a:t>
            </a:r>
          </a:p>
          <a:p>
            <a:pPr>
              <a:spcBef>
                <a:spcPts val="800"/>
              </a:spcBef>
              <a:defRPr sz="1800" b="0">
                <a:solidFill>
                  <a:srgbClr val="000000"/>
                </a:solidFill>
              </a:defRPr>
            </a:pPr>
            <a:r>
              <a:t>▸  Ensures physical presence — no proxy attendance possible</a:t>
            </a:r>
          </a:p>
          <a:p>
            <a:pPr>
              <a:spcBef>
                <a:spcPts val="800"/>
              </a:spcBef>
              <a:defRPr sz="1800" b="0">
                <a:solidFill>
                  <a:srgbClr val="000000"/>
                </a:solidFill>
              </a:defRPr>
            </a:pPr>
            <a:r>
              <a:t>▸  Works on standard devices (laptops/phones) — no special hardware needed</a:t>
            </a:r>
          </a:p>
          <a:p>
            <a:pPr>
              <a:spcBef>
                <a:spcPts val="800"/>
              </a:spcBef>
              <a:defRPr sz="1800" b="0">
                <a:solidFill>
                  <a:srgbClr val="000000"/>
                </a:solidFill>
              </a:defRPr>
            </a:pPr>
            <a:r>
              <a:t>▸  Uses Web Audio API for signal generation &amp; FFT-based detection</a:t>
            </a:r>
          </a:p>
          <a:p>
            <a:pPr>
              <a:spcBef>
                <a:spcPts val="800"/>
              </a:spcBef>
              <a:defRPr sz="1800" b="0">
                <a:solidFill>
                  <a:srgbClr val="000000"/>
                </a:solidFill>
              </a:defRPr>
            </a:pPr>
            <a:r>
              <a:t>▸  Role-based system: Teacher (broadcast) &amp; Student (listen)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097280"/>
            <a:ext cx="5669280" cy="22860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2801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How It Works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737360"/>
            <a:ext cx="5029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defRPr sz="1600" b="0">
                <a:solidFill>
                  <a:srgbClr val="BBDDFF"/>
                </a:solidFill>
              </a:defRPr>
            </a:pPr>
            <a:r>
              <a:t>1. Teacher starts session → Ultrasonic broadcast</a:t>
            </a:r>
          </a:p>
          <a:p>
            <a:pPr>
              <a:spcBef>
                <a:spcPts val="400"/>
              </a:spcBef>
              <a:defRPr sz="1600" b="0">
                <a:solidFill>
                  <a:srgbClr val="BBDDFF"/>
                </a:solidFill>
              </a:defRPr>
            </a:pPr>
            <a:r>
              <a:t>2. Student's mic captures signal → FFT decode</a:t>
            </a:r>
          </a:p>
          <a:p>
            <a:pPr>
              <a:spcBef>
                <a:spcPts val="400"/>
              </a:spcBef>
              <a:defRPr sz="1600" b="0">
                <a:solidFill>
                  <a:srgbClr val="BBDDFF"/>
                </a:solidFill>
              </a:defRPr>
            </a:pPr>
            <a:r>
              <a:t>3. 6-char code extracted → Attendance marked</a:t>
            </a:r>
          </a:p>
          <a:p>
            <a:pPr>
              <a:spcBef>
                <a:spcPts val="400"/>
              </a:spcBef>
              <a:defRPr sz="1600" b="0">
                <a:solidFill>
                  <a:srgbClr val="BBDDFF"/>
                </a:solidFill>
              </a:defRPr>
            </a:pPr>
            <a:r>
              <a:t>4. Server validates → Stored in database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657600"/>
            <a:ext cx="5669280" cy="2468880"/>
          </a:xfrm>
          <a:prstGeom prst="roundRect">
            <a:avLst/>
          </a:prstGeom>
          <a:solidFill>
            <a:srgbClr val="E8F8E8"/>
          </a:solidFill>
          <a:ln w="25400">
            <a:solidFill>
              <a:srgbClr val="00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3749039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8000"/>
                </a:solidFill>
              </a:defRPr>
            </a:pPr>
            <a:r>
              <a:t>Key Innovation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420624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800" b="0">
                <a:solidFill>
                  <a:srgbClr val="005500"/>
                </a:solidFill>
              </a:defRPr>
            </a:pPr>
            <a:r>
              <a:t>▸  Proximity verification via ultrasound</a:t>
            </a:r>
          </a:p>
          <a:p>
            <a:pPr>
              <a:spcBef>
                <a:spcPts val="600"/>
              </a:spcBef>
              <a:defRPr sz="1800" b="0">
                <a:solidFill>
                  <a:srgbClr val="005500"/>
                </a:solidFill>
              </a:defRPr>
            </a:pPr>
            <a:r>
              <a:t>▸  No QR codes, no manual roll calls</a:t>
            </a:r>
          </a:p>
          <a:p>
            <a:pPr>
              <a:spcBef>
                <a:spcPts val="600"/>
              </a:spcBef>
              <a:defRPr sz="1800" b="0">
                <a:solidFill>
                  <a:srgbClr val="005500"/>
                </a:solidFill>
              </a:defRPr>
            </a:pPr>
            <a:r>
              <a:t>▸  Browser-based — zero installation</a:t>
            </a:r>
          </a:p>
          <a:p>
            <a:pPr>
              <a:spcBef>
                <a:spcPts val="600"/>
              </a:spcBef>
              <a:defRPr sz="1800" b="0">
                <a:solidFill>
                  <a:srgbClr val="005500"/>
                </a:solidFill>
              </a:defRPr>
            </a:pPr>
            <a:r>
              <a:t>▸  Real-time attendance tracking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  Literature Survey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Department of Electronics and Communication Engineering  |  IIIT Surat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097280"/>
            <a:ext cx="5669280" cy="237744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06B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188720"/>
            <a:ext cx="5486400" cy="502920"/>
          </a:xfrm>
          <a:prstGeom prst="roundRect">
            <a:avLst/>
          </a:prstGeom>
          <a:solidFill>
            <a:srgbClr val="006B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Traditional Attendance Systems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5120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600" b="0">
                <a:solidFill>
                  <a:srgbClr val="000000"/>
                </a:solidFill>
              </a:defRPr>
            </a:pPr>
            <a:r>
              <a:t>▸  Manual roll call — time-consuming, error-prone</a:t>
            </a:r>
          </a:p>
          <a:p>
            <a:pPr>
              <a:spcBef>
                <a:spcPts val="600"/>
              </a:spcBef>
              <a:defRPr sz="1600" b="0">
                <a:solidFill>
                  <a:srgbClr val="000000"/>
                </a:solidFill>
              </a:defRPr>
            </a:pPr>
            <a:r>
              <a:t>▸  Biometric systems — expensive hardware, privacy concerns</a:t>
            </a:r>
          </a:p>
          <a:p>
            <a:pPr>
              <a:spcBef>
                <a:spcPts val="600"/>
              </a:spcBef>
              <a:defRPr sz="1600" b="0">
                <a:solidFill>
                  <a:srgbClr val="000000"/>
                </a:solidFill>
              </a:defRPr>
            </a:pPr>
            <a:r>
              <a:t>▸  RFID-based — requires tags, infrastructure cost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097280"/>
            <a:ext cx="5669280" cy="237744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09360" y="1188720"/>
            <a:ext cx="5486400" cy="502920"/>
          </a:xfrm>
          <a:prstGeom prst="round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QR Code / GPS Based Systems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783080"/>
            <a:ext cx="5120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600" b="0">
                <a:solidFill>
                  <a:srgbClr val="000000"/>
                </a:solidFill>
              </a:defRPr>
            </a:pPr>
            <a:r>
              <a:t>▸  QR codes can be shared remotely — proxy possible</a:t>
            </a:r>
          </a:p>
          <a:p>
            <a:pPr>
              <a:spcBef>
                <a:spcPts val="600"/>
              </a:spcBef>
              <a:defRPr sz="1600" b="0">
                <a:solidFill>
                  <a:srgbClr val="000000"/>
                </a:solidFill>
              </a:defRPr>
            </a:pPr>
            <a:r>
              <a:t>▸  GPS spoofing allows fake location-based attendance</a:t>
            </a:r>
          </a:p>
          <a:p>
            <a:pPr>
              <a:spcBef>
                <a:spcPts val="600"/>
              </a:spcBef>
              <a:defRPr sz="1600" b="0">
                <a:solidFill>
                  <a:srgbClr val="000000"/>
                </a:solidFill>
              </a:defRPr>
            </a:pPr>
            <a:r>
              <a:t>▸  Bluetooth beacons — require additional hardware setup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3749039"/>
            <a:ext cx="5669280" cy="237744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660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65760" y="3840479"/>
            <a:ext cx="5486400" cy="502920"/>
          </a:xfrm>
          <a:prstGeom prst="roundRect">
            <a:avLst/>
          </a:prstGeom>
          <a:solidFill>
            <a:srgbClr val="660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Audio-Based Approaches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434839"/>
            <a:ext cx="5120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600" b="0">
                <a:solidFill>
                  <a:srgbClr val="000000"/>
                </a:solidFill>
              </a:defRPr>
            </a:pPr>
            <a:r>
              <a:t>▸  Near-ultrasonic communication (18-22 kHz) researched for indoor positioning</a:t>
            </a:r>
          </a:p>
          <a:p>
            <a:pPr>
              <a:spcBef>
                <a:spcPts val="600"/>
              </a:spcBef>
              <a:defRPr sz="1600" b="0">
                <a:solidFill>
                  <a:srgbClr val="000000"/>
                </a:solidFill>
              </a:defRPr>
            </a:pPr>
            <a:r>
              <a:t>▸  Inaudible to humans, detectable by standard microphones</a:t>
            </a:r>
          </a:p>
          <a:p>
            <a:pPr>
              <a:spcBef>
                <a:spcPts val="600"/>
              </a:spcBef>
              <a:defRPr sz="1600" b="0">
                <a:solidFill>
                  <a:srgbClr val="000000"/>
                </a:solidFill>
              </a:defRPr>
            </a:pPr>
            <a:r>
              <a:t>▸  Used in proximity verification (Google Nearby, Chirp SDK)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749039"/>
            <a:ext cx="5669280" cy="237744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09360" y="3840479"/>
            <a:ext cx="5486400" cy="502920"/>
          </a:xfrm>
          <a:prstGeom prst="round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Research Gap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434839"/>
            <a:ext cx="5120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600" b="0">
                <a:solidFill>
                  <a:srgbClr val="000000"/>
                </a:solidFill>
              </a:defRPr>
            </a:pPr>
            <a:r>
              <a:t>▸  No lightweight, web-based ultrasonic attendance system exists</a:t>
            </a:r>
          </a:p>
          <a:p>
            <a:pPr>
              <a:spcBef>
                <a:spcPts val="600"/>
              </a:spcBef>
              <a:defRPr sz="1600" b="0">
                <a:solidFill>
                  <a:srgbClr val="000000"/>
                </a:solidFill>
              </a:defRPr>
            </a:pPr>
            <a:r>
              <a:t>▸  Existing solutions need native apps or special hardware</a:t>
            </a:r>
          </a:p>
          <a:p>
            <a:pPr>
              <a:spcBef>
                <a:spcPts val="600"/>
              </a:spcBef>
              <a:defRPr sz="1600" b="0">
                <a:solidFill>
                  <a:srgbClr val="000000"/>
                </a:solidFill>
              </a:defRPr>
            </a:pPr>
            <a:r>
              <a:t>▸  Our approach: browser-only, zero-install, ultrasonic verification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  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Department of Electronics and Communication Engineering  |  IIIT Surat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188720"/>
            <a:ext cx="2743200" cy="2286000"/>
          </a:xfrm>
          <a:prstGeom prst="roundRect">
            <a:avLst/>
          </a:prstGeom>
          <a:solidFill>
            <a:srgbClr val="006B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Manual Roll Call</a:t>
            </a:r>
          </a:p>
          <a:p>
            <a:br/>
            <a:pPr algn="ctr">
              <a:defRPr sz="1600">
                <a:solidFill>
                  <a:srgbClr val="EEEEEE"/>
                </a:solidFill>
              </a:defRPr>
            </a:pPr>
            <a:r>
              <a:t>Time-consuming for large classes;</a:t>
            </a:r>
            <a:br/>
            <a:r>
              <a:t>error-prone and disruptive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0" y="1188720"/>
            <a:ext cx="2743200" cy="2286000"/>
          </a:xfrm>
          <a:prstGeom prst="round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Proxy Attendance</a:t>
            </a:r>
          </a:p>
          <a:p>
            <a:br/>
            <a:pPr algn="ctr">
              <a:defRPr sz="1600">
                <a:solidFill>
                  <a:srgbClr val="EEEEEE"/>
                </a:solidFill>
              </a:defRPr>
            </a:pPr>
            <a:r>
              <a:t>Students mark attendance for</a:t>
            </a:r>
            <a:br/>
            <a:r>
              <a:t>absent peers using shared codes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188720"/>
            <a:ext cx="2743200" cy="2286000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QR / GPS Spoofing</a:t>
            </a:r>
          </a:p>
          <a:p>
            <a:br/>
            <a:pPr algn="ctr">
              <a:defRPr sz="1600">
                <a:solidFill>
                  <a:srgbClr val="EEEEEE"/>
                </a:solidFill>
              </a:defRPr>
            </a:pPr>
            <a:r>
              <a:t>Digital methods easily bypassed</a:t>
            </a:r>
            <a:br/>
            <a:r>
              <a:t>without physical presence check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52560" y="1188720"/>
            <a:ext cx="2743200" cy="2286000"/>
          </a:xfrm>
          <a:prstGeom prst="roundRect">
            <a:avLst/>
          </a:prstGeom>
          <a:solidFill>
            <a:srgbClr val="660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Hardware Cost</a:t>
            </a:r>
          </a:p>
          <a:p>
            <a:br/>
            <a:pPr algn="ctr">
              <a:defRPr sz="1600">
                <a:solidFill>
                  <a:srgbClr val="EEEEEE"/>
                </a:solidFill>
              </a:defRPr>
            </a:pPr>
            <a:r>
              <a:t>Biometric / RFID systems require</a:t>
            </a:r>
            <a:br/>
            <a:r>
              <a:t>expensive infrastructure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3749039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</a:defRPr>
            </a:pPr>
            <a:r>
              <a:t>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4297680"/>
            <a:ext cx="9418320" cy="1828800"/>
          </a:xfrm>
          <a:prstGeom prst="roundRect">
            <a:avLst/>
          </a:prstGeom>
          <a:solidFill>
            <a:srgbClr val="E8F8E8"/>
          </a:solidFill>
          <a:ln w="38100">
            <a:solidFill>
              <a:srgbClr val="00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008000"/>
                </a:solidFill>
              </a:defRPr>
            </a:pPr>
            <a:r>
              <a:t>Our Solution: SMAT</a:t>
            </a:r>
          </a:p>
          <a:p>
            <a:pPr algn="ctr">
              <a:defRPr sz="1800">
                <a:solidFill>
                  <a:srgbClr val="000000"/>
                </a:solidFill>
              </a:defRPr>
            </a:pPr>
            <a:r>
              <a:t>A web-based smart attendance system using ultrasonic audio signals for physical presence verification.</a:t>
            </a:r>
            <a:br/>
            <a:r>
              <a:t>No special hardware • No installation • No proxy possible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  Proposed 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Department of Electronics and Communication Engineering  |  IIIT Surat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11247120" cy="105156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Frontend (Browser)</a:t>
            </a:r>
          </a:p>
          <a:p>
            <a:pPr algn="l">
              <a:defRPr sz="1500">
                <a:solidFill>
                  <a:srgbClr val="DDDDDD"/>
                </a:solidFill>
              </a:defRPr>
            </a:pPr>
            <a:r>
              <a:t>index.html  |  student.html  |  teacher.html</a:t>
            </a:r>
            <a:br/>
            <a:r>
              <a:t>Web Audio API  |  FFT Visualization  |  Responsive 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214884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3366"/>
                </a:solidFill>
              </a:defRPr>
            </a:pPr>
            <a:r>
              <a:t>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331720"/>
            <a:ext cx="11247120" cy="1051560"/>
          </a:xfrm>
          <a:prstGeom prst="roundRect">
            <a:avLst/>
          </a:prstGeom>
          <a:solidFill>
            <a:srgbClr val="006B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REST API (Express 5)</a:t>
            </a:r>
          </a:p>
          <a:p>
            <a:pPr algn="l">
              <a:defRPr sz="1500">
                <a:solidFill>
                  <a:srgbClr val="DDDDDD"/>
                </a:solidFill>
              </a:defRPr>
            </a:pPr>
            <a:r>
              <a:t>/auth  |  /sessions  |  /attendance</a:t>
            </a:r>
            <a:br/>
            <a:r>
              <a:t>JWT Auth  |  Role-based Access  |  Rate Limiting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338328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3366"/>
                </a:solidFill>
              </a:defRPr>
            </a:pPr>
            <a:r>
              <a:t>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566160"/>
            <a:ext cx="11247120" cy="1051560"/>
          </a:xfrm>
          <a:prstGeom prst="roundRect">
            <a:avLst/>
          </a:prstGeom>
          <a:solidFill>
            <a:srgbClr val="660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Service Layer</a:t>
            </a:r>
          </a:p>
          <a:p>
            <a:pPr algn="l">
              <a:defRPr sz="1500">
                <a:solidFill>
                  <a:srgbClr val="DDDDDD"/>
                </a:solidFill>
              </a:defRPr>
            </a:pPr>
            <a:r>
              <a:t>Auth Service  |  Session Service  |  Attendance Service</a:t>
            </a:r>
            <a:br/>
            <a:r>
              <a:t>bcrypt hashing  |  Token management  |  Dedup logic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461772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3366"/>
                </a:solidFill>
              </a:defRPr>
            </a:pPr>
            <a:r>
              <a:t>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800600"/>
            <a:ext cx="11247120" cy="105156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Data Layer</a:t>
            </a:r>
          </a:p>
          <a:p>
            <a:pPr algn="l">
              <a:defRPr sz="1500">
                <a:solidFill>
                  <a:srgbClr val="DDDDDD"/>
                </a:solidFill>
              </a:defRPr>
            </a:pPr>
            <a:r>
              <a:t>PostgreSQL (users, sessions, records)</a:t>
            </a:r>
            <a:br/>
            <a:r>
              <a:t>Redis (live sessions, code lookup, dedup, rate limits)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3035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3366"/>
                </a:solidFill>
              </a:defRPr>
            </a:pPr>
            <a:r>
              <a:t>Ultrasonic Signal Flow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5669280"/>
            <a:ext cx="1691640" cy="640080"/>
          </a:xfrm>
          <a:prstGeom prst="roundRect">
            <a:avLst/>
          </a:prstGeom>
          <a:solidFill>
            <a:srgbClr val="006B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Teacher</a:t>
            </a:r>
            <a:br/>
            <a:r>
              <a:t>Starts Session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57607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0000"/>
                </a:solidFill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40279" y="5669280"/>
            <a:ext cx="1691640" cy="640080"/>
          </a:xfrm>
          <a:prstGeom prst="round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Ultrasonic</a:t>
            </a:r>
            <a:br/>
            <a:r>
              <a:t>Broadcast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19" y="57607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0000"/>
                </a:solidFill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6240" y="5669280"/>
            <a:ext cx="1691640" cy="640080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Student Mic</a:t>
            </a:r>
            <a:br/>
            <a:r>
              <a:t>Capture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97880" y="57607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0000"/>
                </a:solidFill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199" y="5669280"/>
            <a:ext cx="1691640" cy="640080"/>
          </a:xfrm>
          <a:prstGeom prst="roundRect">
            <a:avLst/>
          </a:prstGeom>
          <a:solidFill>
            <a:srgbClr val="660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FFT Decode</a:t>
            </a:r>
            <a:br/>
            <a:r>
              <a:t>6-char Code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39" y="57607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0000"/>
                </a:solidFill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5669280"/>
            <a:ext cx="1691640" cy="640080"/>
          </a:xfrm>
          <a:prstGeom prst="round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Server</a:t>
            </a:r>
            <a:br/>
            <a:r>
              <a:t>Validation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29800" y="57607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0000"/>
                </a:solidFill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104120" y="5669280"/>
            <a:ext cx="1691640" cy="640080"/>
          </a:xfrm>
          <a:prstGeom prst="roundRect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Attendance</a:t>
            </a:r>
            <a:br/>
            <a:r>
              <a:t>Recorded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  Hardware &amp; Software Requirements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Department of Electronics and Communication Engineering  |  IIIT Surat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097280"/>
            <a:ext cx="5669280" cy="548640"/>
          </a:xfrm>
          <a:prstGeom prst="roundRect">
            <a:avLst/>
          </a:prstGeom>
          <a:solidFill>
            <a:srgbClr val="006B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Hardware Requirements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800" b="0">
                <a:solidFill>
                  <a:srgbClr val="000000"/>
                </a:solidFill>
              </a:defRPr>
            </a:pPr>
            <a:r>
              <a:t>▸  Computer/Laptop with speakers (Teacher side)</a:t>
            </a:r>
          </a:p>
          <a:p>
            <a:pPr>
              <a:spcBef>
                <a:spcPts val="800"/>
              </a:spcBef>
              <a:defRPr sz="1800" b="0">
                <a:solidFill>
                  <a:srgbClr val="000000"/>
                </a:solidFill>
              </a:defRPr>
            </a:pPr>
            <a:r>
              <a:t>▸  Smartphone/Laptop with microphone (Student side)</a:t>
            </a:r>
          </a:p>
          <a:p>
            <a:pPr>
              <a:spcBef>
                <a:spcPts val="800"/>
              </a:spcBef>
              <a:defRPr sz="1800" b="0">
                <a:solidFill>
                  <a:srgbClr val="000000"/>
                </a:solidFill>
              </a:defRPr>
            </a:pPr>
            <a:r>
              <a:t>▸  Standard audio hardware — no special equipment</a:t>
            </a:r>
          </a:p>
          <a:p>
            <a:pPr>
              <a:spcBef>
                <a:spcPts val="800"/>
              </a:spcBef>
              <a:defRPr sz="1800" b="0">
                <a:solidFill>
                  <a:srgbClr val="000000"/>
                </a:solidFill>
              </a:defRPr>
            </a:pPr>
            <a:r>
              <a:t>▸  Network connectivity (Wi-Fi / LAN / Mobile data)</a:t>
            </a:r>
          </a:p>
          <a:p>
            <a:pPr>
              <a:spcBef>
                <a:spcPts val="800"/>
              </a:spcBef>
              <a:defRPr sz="1800" b="0">
                <a:solidFill>
                  <a:srgbClr val="000000"/>
                </a:solidFill>
              </a:defRPr>
            </a:pPr>
            <a:r>
              <a:t>▸  Server machine (for deployment)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097280"/>
            <a:ext cx="5669280" cy="548640"/>
          </a:xfrm>
          <a:prstGeom prst="round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Software Requirements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</a:pPr>
            <a:r>
              <a:rPr sz="1800" b="1">
                <a:solidFill>
                  <a:srgbClr val="003366"/>
                </a:solidFill>
              </a:rPr>
              <a:t>▸  Backend:  </a:t>
            </a:r>
            <a:r>
              <a:rPr sz="1800">
                <a:solidFill>
                  <a:srgbClr val="000000"/>
                </a:solidFill>
              </a:rPr>
              <a:t>Node.js (ESM), Express 5</a:t>
            </a:r>
          </a:p>
          <a:p>
            <a:pPr>
              <a:spcBef>
                <a:spcPts val="800"/>
              </a:spcBef>
            </a:pPr>
            <a:r>
              <a:rPr sz="1800" b="1">
                <a:solidFill>
                  <a:srgbClr val="003366"/>
                </a:solidFill>
              </a:rPr>
              <a:t>▸  Database:  </a:t>
            </a:r>
            <a:r>
              <a:rPr sz="1800">
                <a:solidFill>
                  <a:srgbClr val="000000"/>
                </a:solidFill>
              </a:rPr>
              <a:t>PostgreSQL 16</a:t>
            </a:r>
          </a:p>
          <a:p>
            <a:pPr>
              <a:spcBef>
                <a:spcPts val="800"/>
              </a:spcBef>
            </a:pPr>
            <a:r>
              <a:rPr sz="1800" b="1">
                <a:solidFill>
                  <a:srgbClr val="003366"/>
                </a:solidFill>
              </a:rPr>
              <a:t>▸  Cache:  </a:t>
            </a:r>
            <a:r>
              <a:rPr sz="1800">
                <a:solidFill>
                  <a:srgbClr val="000000"/>
                </a:solidFill>
              </a:rPr>
              <a:t>Redis 7 (ioredis)</a:t>
            </a:r>
          </a:p>
          <a:p>
            <a:pPr>
              <a:spcBef>
                <a:spcPts val="800"/>
              </a:spcBef>
            </a:pPr>
            <a:r>
              <a:rPr sz="1800" b="1">
                <a:solidFill>
                  <a:srgbClr val="003366"/>
                </a:solidFill>
              </a:rPr>
              <a:t>▸  Auth:  </a:t>
            </a:r>
            <a:r>
              <a:rPr sz="1800">
                <a:solidFill>
                  <a:srgbClr val="000000"/>
                </a:solidFill>
              </a:rPr>
              <a:t>JWT + bcrypt</a:t>
            </a:r>
          </a:p>
          <a:p>
            <a:pPr>
              <a:spcBef>
                <a:spcPts val="800"/>
              </a:spcBef>
            </a:pPr>
            <a:r>
              <a:rPr sz="1800" b="1">
                <a:solidFill>
                  <a:srgbClr val="003366"/>
                </a:solidFill>
              </a:rPr>
              <a:t>▸  Frontend:  </a:t>
            </a:r>
            <a:r>
              <a:rPr sz="1800">
                <a:solidFill>
                  <a:srgbClr val="000000"/>
                </a:solidFill>
              </a:rPr>
              <a:t>HTML/CSS/JS, Web Audio API</a:t>
            </a:r>
          </a:p>
          <a:p>
            <a:pPr>
              <a:spcBef>
                <a:spcPts val="800"/>
              </a:spcBef>
            </a:pPr>
            <a:r>
              <a:rPr sz="1800" b="1">
                <a:solidFill>
                  <a:srgbClr val="003366"/>
                </a:solidFill>
              </a:rPr>
              <a:t>▸  Audio:  </a:t>
            </a:r>
            <a:r>
              <a:rPr sz="1800">
                <a:solidFill>
                  <a:srgbClr val="000000"/>
                </a:solidFill>
              </a:rPr>
              <a:t>Ultrasonic encoding (18-20 kHz)</a:t>
            </a:r>
          </a:p>
          <a:p>
            <a:pPr>
              <a:spcBef>
                <a:spcPts val="800"/>
              </a:spcBef>
            </a:pPr>
            <a:r>
              <a:rPr sz="1800" b="1">
                <a:solidFill>
                  <a:srgbClr val="003366"/>
                </a:solidFill>
              </a:rPr>
              <a:t>▸  DevOps:  </a:t>
            </a:r>
            <a:r>
              <a:rPr sz="1800">
                <a:solidFill>
                  <a:srgbClr val="000000"/>
                </a:solidFill>
              </a:rPr>
              <a:t>Docker, docker-compose</a:t>
            </a:r>
          </a:p>
          <a:p>
            <a:pPr>
              <a:spcBef>
                <a:spcPts val="800"/>
              </a:spcBef>
            </a:pPr>
            <a:r>
              <a:rPr sz="1800" b="1">
                <a:solidFill>
                  <a:srgbClr val="003366"/>
                </a:solidFill>
              </a:rPr>
              <a:t>▸  Others:  </a:t>
            </a:r>
            <a:r>
              <a:rPr sz="1800">
                <a:solidFill>
                  <a:srgbClr val="000000"/>
                </a:solidFill>
              </a:rPr>
              <a:t>uuid, dotenv, cors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  Implementation Updates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Department of Electronics and Communication Engineering  |  IIIT Surat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097280"/>
            <a:ext cx="11612880" cy="548640"/>
          </a:xfrm>
          <a:prstGeom prst="roundRect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✓  Completed Modules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5669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600" b="0">
                <a:solidFill>
                  <a:srgbClr val="006600"/>
                </a:solidFill>
              </a:defRPr>
            </a:pPr>
            <a:r>
              <a:t>✓  User authentication (JWT + bcrypt) with role-based access</a:t>
            </a:r>
          </a:p>
          <a:p>
            <a:pPr>
              <a:spcBef>
                <a:spcPts val="600"/>
              </a:spcBef>
              <a:defRPr sz="1600" b="0">
                <a:solidFill>
                  <a:srgbClr val="006600"/>
                </a:solidFill>
              </a:defRPr>
            </a:pPr>
            <a:r>
              <a:t>✓  Teacher dashboard — start sessions, broadcast ultrasonic signal</a:t>
            </a:r>
          </a:p>
          <a:p>
            <a:pPr>
              <a:spcBef>
                <a:spcPts val="600"/>
              </a:spcBef>
              <a:defRPr sz="1600" b="0">
                <a:solidFill>
                  <a:srgbClr val="006600"/>
                </a:solidFill>
              </a:defRPr>
            </a:pPr>
            <a:r>
              <a:t>✓  Student interface — mic-based signal detection with FFT</a:t>
            </a:r>
          </a:p>
          <a:p>
            <a:pPr>
              <a:spcBef>
                <a:spcPts val="600"/>
              </a:spcBef>
              <a:defRPr sz="1600" b="0">
                <a:solidFill>
                  <a:srgbClr val="006600"/>
                </a:solidFill>
              </a:defRPr>
            </a:pPr>
            <a:r>
              <a:t>✓  Ultrasonic encoding protocol (preamble 17.8 kHz + 6 data tones)</a:t>
            </a:r>
          </a:p>
          <a:p>
            <a:pPr>
              <a:spcBef>
                <a:spcPts val="600"/>
              </a:spcBef>
              <a:defRPr sz="1600" b="0">
                <a:solidFill>
                  <a:srgbClr val="006600"/>
                </a:solidFill>
              </a:defRPr>
            </a:pPr>
            <a:r>
              <a:t>✓  PostgreSQL schema (users, sessions, attendance_records)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828800"/>
            <a:ext cx="5669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600" b="0">
                <a:solidFill>
                  <a:srgbClr val="006600"/>
                </a:solidFill>
              </a:defRPr>
            </a:pPr>
            <a:r>
              <a:t>✓  Redis integration (live sessions, dedup, rate limiting)</a:t>
            </a:r>
          </a:p>
          <a:p>
            <a:pPr>
              <a:spcBef>
                <a:spcPts val="600"/>
              </a:spcBef>
              <a:defRPr sz="1600" b="0">
                <a:solidFill>
                  <a:srgbClr val="006600"/>
                </a:solidFill>
              </a:defRPr>
            </a:pPr>
            <a:r>
              <a:t>✓  REST API — auth, sessions, attendance endpoints</a:t>
            </a:r>
          </a:p>
          <a:p>
            <a:pPr>
              <a:spcBef>
                <a:spcPts val="600"/>
              </a:spcBef>
              <a:defRPr sz="1600" b="0">
                <a:solidFill>
                  <a:srgbClr val="006600"/>
                </a:solidFill>
              </a:defRPr>
            </a:pPr>
            <a:r>
              <a:t>✓  Real-time attendance count display for teachers</a:t>
            </a:r>
          </a:p>
          <a:p>
            <a:pPr>
              <a:spcBef>
                <a:spcPts val="600"/>
              </a:spcBef>
              <a:defRPr sz="1600" b="0">
                <a:solidFill>
                  <a:srgbClr val="006600"/>
                </a:solidFill>
              </a:defRPr>
            </a:pPr>
            <a:r>
              <a:t>✓  Attendance history for both teachers and students</a:t>
            </a:r>
          </a:p>
          <a:p>
            <a:pPr>
              <a:spcBef>
                <a:spcPts val="600"/>
              </a:spcBef>
              <a:defRPr sz="1600" b="0">
                <a:solidFill>
                  <a:srgbClr val="006600"/>
                </a:solidFill>
              </a:defRPr>
            </a:pPr>
            <a:r>
              <a:t>✓  Docker containerization (docker-compose setup)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754880"/>
            <a:ext cx="11612880" cy="1371600"/>
          </a:xfrm>
          <a:prstGeom prst="roundRect">
            <a:avLst/>
          </a:prstGeom>
          <a:solidFill>
            <a:srgbClr val="FEF3E2"/>
          </a:solidFill>
          <a:ln w="254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2200" b="1">
                <a:solidFill>
                  <a:srgbClr val="FF8C00"/>
                </a:solidFill>
              </a:defRPr>
            </a:pPr>
            <a:r>
              <a:t>Overall Progress: ~85% Complete</a:t>
            </a:r>
          </a:p>
          <a:p>
            <a:pPr algn="ctr">
              <a:defRPr sz="1600">
                <a:solidFill>
                  <a:srgbClr val="000000"/>
                </a:solidFill>
              </a:defRPr>
            </a:pPr>
            <a:r>
              <a:t>Core functionality fully operational  |  Testing &amp; optimization in progress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  Results &amp; Demonstrations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Department of Electronics and Communication Engineering  |  IIIT Surat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097280"/>
            <a:ext cx="5669280" cy="237744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06B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188720"/>
            <a:ext cx="5486400" cy="502920"/>
          </a:xfrm>
          <a:prstGeom prst="roundRect">
            <a:avLst/>
          </a:prstGeom>
          <a:solidFill>
            <a:srgbClr val="006B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Ultrasonic Signal Generation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defRPr sz="1700">
                <a:solidFill>
                  <a:srgbClr val="000000"/>
                </a:solidFill>
              </a:defRPr>
            </a:pPr>
            <a:r>
              <a:t>Successfully generates 18-20 kHz tones</a:t>
            </a:r>
            <a:br/>
            <a:r>
              <a:t>from browser using Web Audio API.</a:t>
            </a:r>
            <a:br/>
            <a:r>
              <a:t>Preamble at 17.8 kHz + 6 data tones.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097280"/>
            <a:ext cx="5669280" cy="237744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09360" y="1188720"/>
            <a:ext cx="5486400" cy="502920"/>
          </a:xfrm>
          <a:prstGeom prst="round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Signal Detection &amp; Decoding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82880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defRPr sz="1700">
                <a:solidFill>
                  <a:srgbClr val="000000"/>
                </a:solidFill>
              </a:defRPr>
            </a:pPr>
            <a:r>
              <a:t>FFT-based mic analysis decodes</a:t>
            </a:r>
            <a:br/>
            <a:r>
              <a:t>6-character session code in real-time.</a:t>
            </a:r>
            <a:br/>
            <a:r>
              <a:t>State machine: preamble → decode → done.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3749039"/>
            <a:ext cx="5669280" cy="237744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0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65760" y="3840479"/>
            <a:ext cx="5486400" cy="502920"/>
          </a:xfrm>
          <a:prstGeom prst="roundRect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Attendance Accuracy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480559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defRPr sz="1700">
                <a:solidFill>
                  <a:srgbClr val="000000"/>
                </a:solidFill>
              </a:defRPr>
            </a:pPr>
            <a:r>
              <a:t>Proximity-based verification works</a:t>
            </a:r>
            <a:br/>
            <a:r>
              <a:t>within classroom range (~5-10 meters).</a:t>
            </a:r>
            <a:br/>
            <a:r>
              <a:t>Duplicate submissions rejected (409).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749039"/>
            <a:ext cx="5669280" cy="237744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660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09360" y="3840479"/>
            <a:ext cx="5486400" cy="502920"/>
          </a:xfrm>
          <a:prstGeom prst="roundRect">
            <a:avLst/>
          </a:prstGeom>
          <a:solidFill>
            <a:srgbClr val="660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System Performance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480559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defRPr sz="1700">
                <a:solidFill>
                  <a:srgbClr val="000000"/>
                </a:solidFill>
              </a:defRPr>
            </a:pPr>
            <a:r>
              <a:t>JWT auth &lt; 100ms response time.</a:t>
            </a:r>
            <a:br/>
            <a:r>
              <a:t>Redis dedup prevents race conditions.</a:t>
            </a:r>
            <a:br/>
            <a:r>
              <a:t>Rate limiting handles concurrent users.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  Advantages &amp; Applications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Department of Electronics and Communication Engineering  |  IIIT Surat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097280"/>
            <a:ext cx="5669280" cy="502920"/>
          </a:xfrm>
          <a:prstGeom prst="roundRect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Advantages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08000"/>
                </a:solidFill>
              </a:rPr>
              <a:t>▸  Proximity Verified:  </a:t>
            </a:r>
            <a:r>
              <a:rPr sz="1700">
                <a:solidFill>
                  <a:srgbClr val="000000"/>
                </a:solidFill>
              </a:rPr>
              <a:t>Ultrasonic range ensures physical presence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46888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08000"/>
                </a:solidFill>
              </a:rPr>
              <a:t>▸  Zero Hardware Cost:  </a:t>
            </a:r>
            <a:r>
              <a:rPr sz="1700">
                <a:solidFill>
                  <a:srgbClr val="000000"/>
                </a:solidFill>
              </a:rPr>
              <a:t>Uses existing speakers &amp; microphones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08000"/>
                </a:solidFill>
              </a:rPr>
              <a:t>▸  No Installation:  </a:t>
            </a:r>
            <a:r>
              <a:rPr sz="1700">
                <a:solidFill>
                  <a:srgbClr val="000000"/>
                </a:solidFill>
              </a:rPr>
              <a:t>100% browser-based, works on any device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93192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08000"/>
                </a:solidFill>
              </a:rPr>
              <a:t>▸  Anti-Proxy:  </a:t>
            </a:r>
            <a:r>
              <a:rPr sz="1700">
                <a:solidFill>
                  <a:srgbClr val="000000"/>
                </a:solidFill>
              </a:rPr>
              <a:t>Signal can't be forwarded remotely easily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08000"/>
                </a:solidFill>
              </a:rPr>
              <a:t>▸  Real-time Tracking:  </a:t>
            </a:r>
            <a:r>
              <a:rPr sz="1700">
                <a:solidFill>
                  <a:srgbClr val="000000"/>
                </a:solidFill>
              </a:rPr>
              <a:t>Teachers see live attendance count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39496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08000"/>
                </a:solidFill>
              </a:rPr>
              <a:t>▸  Fast &amp; Efficient:  </a:t>
            </a:r>
            <a:r>
              <a:rPr sz="1700">
                <a:solidFill>
                  <a:srgbClr val="000000"/>
                </a:solidFill>
              </a:rPr>
              <a:t>Entire process takes &lt; 30 seconds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097280"/>
            <a:ext cx="5669280" cy="502920"/>
          </a:xfrm>
          <a:prstGeom prst="roundRect">
            <a:avLst/>
          </a:prstGeom>
          <a:solidFill>
            <a:srgbClr val="006B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Applications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828800"/>
            <a:ext cx="5303520" cy="566928"/>
          </a:xfrm>
          <a:prstGeom prst="roundRect">
            <a:avLst/>
          </a:prstGeom>
          <a:solidFill>
            <a:srgbClr val="E8F4FD"/>
          </a:solidFill>
          <a:ln w="12700">
            <a:solidFill>
              <a:srgbClr val="006B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03366"/>
                </a:solidFill>
              </a:defRPr>
            </a:pPr>
            <a:r>
              <a:t>▸  Universities &amp; Colleges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578608"/>
            <a:ext cx="5303520" cy="566928"/>
          </a:xfrm>
          <a:prstGeom prst="roundRect">
            <a:avLst/>
          </a:prstGeom>
          <a:solidFill>
            <a:srgbClr val="E8F4FD"/>
          </a:solidFill>
          <a:ln w="12700">
            <a:solidFill>
              <a:srgbClr val="006B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03366"/>
                </a:solidFill>
              </a:defRPr>
            </a:pPr>
            <a:r>
              <a:t>▸  Schools (K-12)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3328415"/>
            <a:ext cx="5303520" cy="566928"/>
          </a:xfrm>
          <a:prstGeom prst="roundRect">
            <a:avLst/>
          </a:prstGeom>
          <a:solidFill>
            <a:srgbClr val="E8F4FD"/>
          </a:solidFill>
          <a:ln w="12700">
            <a:solidFill>
              <a:srgbClr val="006B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03366"/>
                </a:solidFill>
              </a:defRPr>
            </a:pPr>
            <a:r>
              <a:t>▸  Corporate Training Sessions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4078224"/>
            <a:ext cx="5303520" cy="566928"/>
          </a:xfrm>
          <a:prstGeom prst="roundRect">
            <a:avLst/>
          </a:prstGeom>
          <a:solidFill>
            <a:srgbClr val="E8F4FD"/>
          </a:solidFill>
          <a:ln w="12700">
            <a:solidFill>
              <a:srgbClr val="006B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03366"/>
                </a:solidFill>
              </a:defRPr>
            </a:pPr>
            <a:r>
              <a:t>▸  Workshops &amp; Seminars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4828031"/>
            <a:ext cx="5303520" cy="566928"/>
          </a:xfrm>
          <a:prstGeom prst="roundRect">
            <a:avLst/>
          </a:prstGeom>
          <a:solidFill>
            <a:srgbClr val="E8F4FD"/>
          </a:solidFill>
          <a:ln w="12700">
            <a:solidFill>
              <a:srgbClr val="006B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03366"/>
                </a:solidFill>
              </a:defRPr>
            </a:pPr>
            <a:r>
              <a:t>▸  Examination Halls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5577840"/>
            <a:ext cx="5303520" cy="566928"/>
          </a:xfrm>
          <a:prstGeom prst="roundRect">
            <a:avLst/>
          </a:prstGeom>
          <a:solidFill>
            <a:srgbClr val="E8F4FD"/>
          </a:solidFill>
          <a:ln w="12700">
            <a:solidFill>
              <a:srgbClr val="006B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03366"/>
                </a:solidFill>
              </a:defRPr>
            </a:pPr>
            <a:r>
              <a:t>▸  Conference Attendance Tracking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  Budget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Department of Electronics and Communication Engineering  |  IIIT Surat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3366"/>
                </a:solidFill>
              </a:defRPr>
            </a:pPr>
            <a:r>
              <a:t>Cost Analysis — Minimal Budget Project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011680"/>
            <a:ext cx="3657600" cy="502920"/>
          </a:xfrm>
          <a:prstGeom prst="rect">
            <a:avLst/>
          </a:prstGeom>
          <a:solidFill>
            <a:srgbClr val="00336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Item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4297680" y="2011680"/>
            <a:ext cx="2286000" cy="502920"/>
          </a:xfrm>
          <a:prstGeom prst="rect">
            <a:avLst/>
          </a:prstGeom>
          <a:solidFill>
            <a:srgbClr val="00336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Cost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0" y="2011680"/>
            <a:ext cx="5029200" cy="502920"/>
          </a:xfrm>
          <a:prstGeom prst="rect">
            <a:avLst/>
          </a:prstGeom>
          <a:solidFill>
            <a:srgbClr val="00336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Notes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514600"/>
            <a:ext cx="36576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000000"/>
                </a:solidFill>
              </a:defRPr>
            </a:pPr>
            <a:r>
              <a:t>Server Hosting (VPS)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2514600"/>
            <a:ext cx="2286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000000"/>
                </a:solidFill>
              </a:defRPr>
            </a:pPr>
            <a:r>
              <a:t>₹0 – ₹500/mo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0" y="2514600"/>
            <a:ext cx="50292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000000"/>
                </a:solidFill>
              </a:defRPr>
            </a:pPr>
            <a:r>
              <a:t>Free tier available (Render, Railway)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017520"/>
            <a:ext cx="3657600" cy="50292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000000"/>
                </a:solidFill>
              </a:defRPr>
            </a:pPr>
            <a:r>
              <a:t>PostgreSQL Database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3017520"/>
            <a:ext cx="2286000" cy="50292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000000"/>
                </a:solidFill>
              </a:defRPr>
            </a:pPr>
            <a:r>
              <a:t>₹0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0" y="3017520"/>
            <a:ext cx="5029200" cy="50292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000000"/>
                </a:solidFill>
              </a:defRPr>
            </a:pPr>
            <a:r>
              <a:t>Free tier on cloud providers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520440"/>
            <a:ext cx="36576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000000"/>
                </a:solidFill>
              </a:defRPr>
            </a:pPr>
            <a:r>
              <a:t>Redis Cache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80" y="3520440"/>
            <a:ext cx="2286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000000"/>
                </a:solidFill>
              </a:defRPr>
            </a:pPr>
            <a:r>
              <a:t>₹0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0" y="3520440"/>
            <a:ext cx="50292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000000"/>
                </a:solidFill>
              </a:defRPr>
            </a:pPr>
            <a:r>
              <a:t>Free tier (Upstash / Railway)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023360"/>
            <a:ext cx="3657600" cy="50292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000000"/>
                </a:solidFill>
              </a:defRPr>
            </a:pPr>
            <a:r>
              <a:t>Domain Name (optional)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0" y="4023360"/>
            <a:ext cx="2286000" cy="50292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000000"/>
                </a:solidFill>
              </a:defRPr>
            </a:pPr>
            <a:r>
              <a:t>₹500 – ₹1000/yr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0" y="4023360"/>
            <a:ext cx="5029200" cy="50292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000000"/>
                </a:solidFill>
              </a:defRPr>
            </a:pPr>
            <a:r>
              <a:t>Optional for deployment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4526280"/>
            <a:ext cx="36576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000000"/>
                </a:solidFill>
              </a:defRPr>
            </a:pPr>
            <a:r>
              <a:t>Development Tools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80" y="4526280"/>
            <a:ext cx="2286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000000"/>
                </a:solidFill>
              </a:defRPr>
            </a:pPr>
            <a:r>
              <a:t>₹0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0" y="4526280"/>
            <a:ext cx="50292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000000"/>
                </a:solidFill>
              </a:defRPr>
            </a:pPr>
            <a:r>
              <a:t>VS Code, Git, Docker — all free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5029200"/>
            <a:ext cx="3657600" cy="50292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000000"/>
                </a:solidFill>
              </a:defRPr>
            </a:pPr>
            <a:r>
              <a:t>Hardware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97680" y="5029200"/>
            <a:ext cx="2286000" cy="50292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000000"/>
                </a:solidFill>
              </a:defRPr>
            </a:pPr>
            <a:r>
              <a:t>₹0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0" y="5029200"/>
            <a:ext cx="5029200" cy="50292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000000"/>
                </a:solidFill>
              </a:defRPr>
            </a:pPr>
            <a:r>
              <a:t>Uses existing devices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5532120"/>
            <a:ext cx="10972800" cy="548640"/>
          </a:xfrm>
          <a:prstGeom prst="rect">
            <a:avLst/>
          </a:prstGeom>
          <a:solidFill>
            <a:srgbClr val="E8F8E8"/>
          </a:solidFill>
          <a:ln w="25400">
            <a:solidFill>
              <a:srgbClr val="00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008000"/>
                </a:solidFill>
              </a:defRPr>
            </a:pPr>
            <a:r>
              <a:t>Total Estimated Cost:  ₹0 – ₹1,500  (Minimal / Near-Zero Budget)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  Workflow for Remaining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Department of Electronics and Communication Engineering  |  IIIT Surat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051560"/>
            <a:ext cx="1828800" cy="822960"/>
          </a:xfrm>
          <a:prstGeom prst="roundRect">
            <a:avLst/>
          </a:prstGeom>
          <a:solidFill>
            <a:srgbClr val="006B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Week 1-2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1051560"/>
            <a:ext cx="3200400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6B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>
              <a:defRPr sz="1800" b="1">
                <a:solidFill>
                  <a:srgbClr val="006BB6"/>
                </a:solidFill>
              </a:defRPr>
            </a:pPr>
            <a:r>
              <a:t>Testing &amp; Bug Fixes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0" y="1051560"/>
            <a:ext cx="6217920" cy="82296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006B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l">
              <a:defRPr sz="1500">
                <a:solidFill>
                  <a:srgbClr val="000000"/>
                </a:solidFill>
              </a:defRPr>
            </a:pPr>
            <a:r>
              <a:t>Cross-browser testing, edge case handling,</a:t>
            </a:r>
            <a:br/>
            <a:r>
              <a:t>audio reliability in noisy environments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2057400"/>
            <a:ext cx="1828800" cy="822960"/>
          </a:xfrm>
          <a:prstGeom prst="round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Week 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0" y="2057400"/>
            <a:ext cx="3200400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>
              <a:defRPr sz="1800" b="1">
                <a:solidFill>
                  <a:srgbClr val="CC0000"/>
                </a:solidFill>
              </a:defRPr>
            </a:pPr>
            <a:r>
              <a:t>Security Hardening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0" y="2057400"/>
            <a:ext cx="6217920" cy="82296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l">
              <a:defRPr sz="1500">
                <a:solidFill>
                  <a:srgbClr val="000000"/>
                </a:solidFill>
              </a:defRPr>
            </a:pPr>
            <a:r>
              <a:t>Input validation, HTTPS enforcement,</a:t>
            </a:r>
            <a:br/>
            <a:r>
              <a:t>token rotation, penetration testing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3063240"/>
            <a:ext cx="1828800" cy="822960"/>
          </a:xfrm>
          <a:prstGeom prst="roundRect">
            <a:avLst/>
          </a:prstGeom>
          <a:solidFill>
            <a:srgbClr val="660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Week 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86000" y="3063240"/>
            <a:ext cx="3200400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60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>
              <a:defRPr sz="1800" b="1">
                <a:solidFill>
                  <a:srgbClr val="660099"/>
                </a:solidFill>
              </a:defRPr>
            </a:pPr>
            <a:r>
              <a:t>UI/UX Polish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0" y="3063240"/>
            <a:ext cx="6217920" cy="82296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660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l">
              <a:defRPr sz="1500">
                <a:solidFill>
                  <a:srgbClr val="000000"/>
                </a:solidFill>
              </a:defRPr>
            </a:pPr>
            <a:r>
              <a:t>Responsive design improvements,</a:t>
            </a:r>
            <a:br/>
            <a:r>
              <a:t>accessibility, loading states, error handling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4069080"/>
            <a:ext cx="1828800" cy="822960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Week 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86000" y="4069080"/>
            <a:ext cx="3200400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>
              <a:defRPr sz="1800" b="1">
                <a:solidFill>
                  <a:srgbClr val="FF8C00"/>
                </a:solidFill>
              </a:defRPr>
            </a:pPr>
            <a:r>
              <a:t>Performance Optimization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0" y="4069080"/>
            <a:ext cx="6217920" cy="82296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l">
              <a:defRPr sz="1500">
                <a:solidFill>
                  <a:srgbClr val="000000"/>
                </a:solidFill>
              </a:defRPr>
            </a:pPr>
            <a:r>
              <a:t>Audio detection accuracy tuning,</a:t>
            </a:r>
            <a:br/>
            <a:r>
              <a:t>API response optimization, caching strategy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" y="5074920"/>
            <a:ext cx="1828800" cy="822960"/>
          </a:xfrm>
          <a:prstGeom prst="roundRect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Week 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86000" y="5074920"/>
            <a:ext cx="3200400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>
              <a:defRPr sz="1800" b="1">
                <a:solidFill>
                  <a:srgbClr val="008000"/>
                </a:solidFill>
              </a:defRPr>
            </a:pPr>
            <a:r>
              <a:t>Deployment &amp; Documentation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0" y="5074920"/>
            <a:ext cx="6217920" cy="82296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00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l">
              <a:defRPr sz="1500">
                <a:solidFill>
                  <a:srgbClr val="000000"/>
                </a:solidFill>
              </a:defRPr>
            </a:pPr>
            <a:r>
              <a:t>Production deployment, user manual,</a:t>
            </a:r>
            <a:br/>
            <a:r>
              <a:t>API documentation, final testing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  Future Scope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Department of Electronics and Communication Engineering  |  IIIT Surat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097280"/>
            <a:ext cx="3657600" cy="237744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06B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3291840" cy="502920"/>
          </a:xfrm>
          <a:prstGeom prst="roundRect">
            <a:avLst/>
          </a:prstGeom>
          <a:solidFill>
            <a:srgbClr val="006B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Multi-Frequency Encoding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  <a:defRPr sz="1600">
                <a:solidFill>
                  <a:srgbClr val="000000"/>
                </a:solidFill>
              </a:defRPr>
            </a:pPr>
            <a:r>
              <a:t>Use multiple simultaneous frequencies</a:t>
            </a:r>
            <a:br/>
            <a:r>
              <a:t>for faster, more robust code transmission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1097280"/>
            <a:ext cx="3657600" cy="237744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89120" y="1280160"/>
            <a:ext cx="3291840" cy="502920"/>
          </a:xfrm>
          <a:prstGeom prst="round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Mobile App (PWA)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192024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  <a:defRPr sz="1600">
                <a:solidFill>
                  <a:srgbClr val="000000"/>
                </a:solidFill>
              </a:defRPr>
            </a:pPr>
            <a:r>
              <a:t>Convert to Progressive Web App for</a:t>
            </a:r>
            <a:br/>
            <a:r>
              <a:t>offline support and push notifications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097280"/>
            <a:ext cx="3657600" cy="237744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660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321040" y="1280160"/>
            <a:ext cx="3291840" cy="502920"/>
          </a:xfrm>
          <a:prstGeom prst="roundRect">
            <a:avLst/>
          </a:prstGeom>
          <a:solidFill>
            <a:srgbClr val="660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Analytics 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192024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  <a:defRPr sz="1600">
                <a:solidFill>
                  <a:srgbClr val="000000"/>
                </a:solidFill>
              </a:defRPr>
            </a:pPr>
            <a:r>
              <a:t>Attendance trends, class-wise reports,</a:t>
            </a:r>
            <a:br/>
            <a:r>
              <a:t>student engagement metrics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749039"/>
            <a:ext cx="3657600" cy="237744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7200" y="3931919"/>
            <a:ext cx="3291840" cy="502920"/>
          </a:xfrm>
          <a:prstGeom prst="round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AI-based Anomaly Detection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571999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  <a:defRPr sz="1600">
                <a:solidFill>
                  <a:srgbClr val="000000"/>
                </a:solidFill>
              </a:defRPr>
            </a:pPr>
            <a:r>
              <a:t>Detect unusual patterns like</a:t>
            </a:r>
            <a:br/>
            <a:r>
              <a:t>sudden attendance spikes or drops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6240" y="3749039"/>
            <a:ext cx="3657600" cy="237744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389120" y="3931919"/>
            <a:ext cx="3291840" cy="502920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Integration with LMS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4571999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  <a:defRPr sz="1600">
                <a:solidFill>
                  <a:srgbClr val="000000"/>
                </a:solidFill>
              </a:defRPr>
            </a:pPr>
            <a:r>
              <a:t>Connect with Moodle, Google Classroom,</a:t>
            </a:r>
            <a:br/>
            <a:r>
              <a:t>or university ERP systems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3749039"/>
            <a:ext cx="3657600" cy="237744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0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21040" y="3931919"/>
            <a:ext cx="3291840" cy="502920"/>
          </a:xfrm>
          <a:prstGeom prst="roundRect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Multi-room Support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4571999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  <a:defRPr sz="1600">
                <a:solidFill>
                  <a:srgbClr val="000000"/>
                </a:solidFill>
              </a:defRPr>
            </a:pPr>
            <a:r>
              <a:t>Unique frequency bands per room to</a:t>
            </a:r>
            <a:br/>
            <a:r>
              <a:t>avoid cross-room interference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  References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Department of Electronics and Communication Engineering  |  IIIT Surat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defRPr sz="1600" b="0">
                <a:solidFill>
                  <a:srgbClr val="000000"/>
                </a:solidFill>
              </a:defRPr>
            </a:pPr>
            <a:r>
              <a:t>[1]  W3C, "Web Audio API Specification," W3C Working Draft, 2024.</a:t>
            </a:r>
          </a:p>
          <a:p>
            <a:pPr>
              <a:spcBef>
                <a:spcPts val="1000"/>
              </a:spcBef>
              <a:defRPr sz="1600" b="0">
                <a:solidFill>
                  <a:srgbClr val="000000"/>
                </a:solidFill>
              </a:defRPr>
            </a:pPr>
            <a:r>
              <a:t>[2]  Mozilla Developer Network, "Using the Web Audio API," MDN Web Docs.</a:t>
            </a:r>
          </a:p>
          <a:p>
            <a:pPr>
              <a:spcBef>
                <a:spcPts val="1000"/>
              </a:spcBef>
              <a:defRPr sz="1600" b="0">
                <a:solidFill>
                  <a:srgbClr val="000000"/>
                </a:solidFill>
              </a:defRPr>
            </a:pPr>
            <a:r>
              <a:t>[3]  R. Nandakumar et al., "Dhwani: Secure Peer-to-Peer Acoustic NFC," ACM SIGCOMM, 2013.</a:t>
            </a:r>
          </a:p>
          <a:p>
            <a:pPr>
              <a:spcBef>
                <a:spcPts val="1000"/>
              </a:spcBef>
              <a:defRPr sz="1600" b="0">
                <a:solidFill>
                  <a:srgbClr val="000000"/>
                </a:solidFill>
              </a:defRPr>
            </a:pPr>
            <a:r>
              <a:t>[4]  Google, "Nearby Connections API — Audio-based proximity detection," Google Developers.</a:t>
            </a:r>
          </a:p>
          <a:p>
            <a:pPr>
              <a:spcBef>
                <a:spcPts val="1000"/>
              </a:spcBef>
              <a:defRPr sz="1600" b="0">
                <a:solidFill>
                  <a:srgbClr val="000000"/>
                </a:solidFill>
              </a:defRPr>
            </a:pPr>
            <a:r>
              <a:t>[5]  Chirp.io (Asio Ltd.), "Data-over-sound technology for IoT and mobile," 2020.</a:t>
            </a:r>
          </a:p>
          <a:p>
            <a:pPr>
              <a:spcBef>
                <a:spcPts val="1000"/>
              </a:spcBef>
              <a:defRPr sz="1600" b="0">
                <a:solidFill>
                  <a:srgbClr val="000000"/>
                </a:solidFill>
              </a:defRPr>
            </a:pPr>
            <a:r>
              <a:t>[6]  A. Madhavapeddy et al., "Audio Networking: The Forgotten Wireless Technology," IEEE Pervasive Computing, 2005.</a:t>
            </a:r>
          </a:p>
          <a:p>
            <a:pPr>
              <a:spcBef>
                <a:spcPts val="1000"/>
              </a:spcBef>
              <a:defRPr sz="1600" b="0">
                <a:solidFill>
                  <a:srgbClr val="000000"/>
                </a:solidFill>
              </a:defRPr>
            </a:pPr>
            <a:r>
              <a:t>[7]  Express.js Documentation, "Express 5.x API Reference," expressjs.com.</a:t>
            </a:r>
          </a:p>
          <a:p>
            <a:pPr>
              <a:spcBef>
                <a:spcPts val="1000"/>
              </a:spcBef>
              <a:defRPr sz="1600" b="0">
                <a:solidFill>
                  <a:srgbClr val="000000"/>
                </a:solidFill>
              </a:defRPr>
            </a:pPr>
            <a:r>
              <a:t>[8]  PostgreSQL Global Development Group, "PostgreSQL 16 Documentation," postgresql.org.</a:t>
            </a:r>
          </a:p>
          <a:p>
            <a:pPr>
              <a:spcBef>
                <a:spcPts val="1000"/>
              </a:spcBef>
              <a:defRPr sz="1600" b="0">
                <a:solidFill>
                  <a:srgbClr val="000000"/>
                </a:solidFill>
              </a:defRPr>
            </a:pPr>
            <a:r>
              <a:t>[9]  Redis Ltd., "Redis 7 Documentation," redis.io.</a:t>
            </a:r>
          </a:p>
          <a:p>
            <a:pPr>
              <a:spcBef>
                <a:spcPts val="1000"/>
              </a:spcBef>
              <a:defRPr sz="1600" b="0">
                <a:solidFill>
                  <a:srgbClr val="000000"/>
                </a:solidFill>
              </a:defRPr>
            </a:pPr>
            <a:r>
              <a:t>[10] Auth0, "Introduction to JSON Web Tokens," jwt.io.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Thank You!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BBDDFF"/>
                </a:solidFill>
              </a:defRPr>
            </a:pPr>
            <a:r>
              <a:t>SMAT: Smart Attendance System Using Ultrasonic Audio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8C00"/>
                </a:solidFill>
              </a:defRPr>
            </a:pPr>
            <a:r>
              <a:t>Questions &amp; Discussion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943600"/>
            <a:ext cx="12188952" cy="9144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6035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Department of Electronics and Communication Engineering  |  IIIT Surat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