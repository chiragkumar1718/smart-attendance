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0972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भारतीय सूचना प्रौद्योगिकी संस्थान सूरत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3891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Indian Institute of Information Technology Surat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80467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BCC"/>
                </a:solidFill>
                <a:latin typeface="Calibri"/>
              </a:rPr>
              <a:t>ભારતીય સૂચના પ્રૌદ્યોગિકી સંસ્થા સુરત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7899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99AA"/>
                </a:solidFill>
                <a:latin typeface="Calibri"/>
              </a:rPr>
              <a:t>(An Institute of National Importance under Act of Parliament)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003366"/>
                </a:solidFill>
                <a:latin typeface="Calibri"/>
              </a:rPr>
              <a:t>Presentation 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468880"/>
            <a:ext cx="9418320" cy="1005840"/>
          </a:xfrm>
          <a:prstGeom prst="roundRect">
            <a:avLst/>
          </a:prstGeom>
          <a:solidFill>
            <a:srgbClr val="EEEFFE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A1F3C"/>
                </a:solidFill>
                <a:latin typeface="Calibri"/>
              </a:rPr>
              <a:t>SMAT: Smart Attendance System
Using Ultrasonic Audio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49039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3366"/>
                </a:solidFill>
                <a:latin typeface="Calibri"/>
              </a:rPr>
              <a:t>Group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4114800"/>
            <a:ext cx="3931920" cy="182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42062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1">
                <a:solidFill>
                  <a:srgbClr val="333333"/>
                </a:solidFill>
                <a:latin typeface="Calibri"/>
              </a:defRPr>
            </a:pPr>
            <a:r>
              <a:t>&lt;Name&gt;                              &lt;Roll Number&gt;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333333"/>
                </a:solidFill>
                <a:latin typeface="Calibri"/>
              </a:rPr>
              <a:t>Under the guidance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008080"/>
                </a:solidFill>
                <a:latin typeface="Calibri"/>
              </a:rPr>
              <a:t>&lt;Name of the Guide&gt;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080760"/>
            <a:ext cx="12188952" cy="7772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172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Department of Electronics and Communication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Outline of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 /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21615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6366F1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1615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06B6D4"/>
                </a:solidFill>
                <a:latin typeface="Calibri"/>
              </a:defRPr>
            </a:pPr>
            <a:r>
              <a:t>Literature Survey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188720"/>
            <a:ext cx="54864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21615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548640" cy="502920"/>
          </a:xfrm>
          <a:prstGeom prst="roundRect">
            <a:avLst/>
          </a:prstGeom>
          <a:solidFill>
            <a:srgbClr val="006B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222199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B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006BB6"/>
                </a:solidFill>
                <a:latin typeface="Calibri"/>
              </a:defRPr>
            </a:pPr>
            <a:r>
              <a:t>Proposed System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194560"/>
            <a:ext cx="548640" cy="5029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22199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008080"/>
                </a:solidFill>
                <a:latin typeface="Calibri"/>
              </a:defRPr>
            </a:pPr>
            <a:r>
              <a:t>Database Design &amp; ER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194560"/>
            <a:ext cx="548640" cy="5029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222199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8B5CF6"/>
                </a:solidFill>
                <a:latin typeface="Calibri"/>
              </a:defRPr>
            </a:pPr>
            <a:r>
              <a:t>API Design &amp; Endpoints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00400"/>
            <a:ext cx="548640" cy="502920"/>
          </a:xfrm>
          <a:prstGeom prst="roundRect">
            <a:avLst/>
          </a:prstGeom>
          <a:solidFill>
            <a:srgbClr val="7835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322783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835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78350D"/>
                </a:solidFill>
                <a:latin typeface="Calibri"/>
              </a:defRPr>
            </a:pPr>
            <a:r>
              <a:t>Security &amp; Middleware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3200400"/>
            <a:ext cx="548640" cy="5029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322783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003366"/>
                </a:solidFill>
                <a:latin typeface="Calibri"/>
              </a:defRPr>
            </a:pPr>
            <a:r>
              <a:t>Hardware &amp; Software Requirements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200400"/>
            <a:ext cx="54864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22783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10B981"/>
                </a:solidFill>
                <a:latin typeface="Calibri"/>
              </a:defRPr>
            </a:pPr>
            <a:r>
              <a:t>Implementation Updates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206240"/>
            <a:ext cx="54864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423367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Results &amp; Demonstrations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4206240"/>
            <a:ext cx="548640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423367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6366F1"/>
                </a:solidFill>
                <a:latin typeface="Calibri"/>
              </a:defRPr>
            </a:pPr>
            <a:r>
              <a:t>Advantages &amp; Applications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206240"/>
            <a:ext cx="548640" cy="5029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0" y="423367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008080"/>
                </a:solidFill>
                <a:latin typeface="Calibri"/>
              </a:defRPr>
            </a:pPr>
            <a:r>
              <a:t>Budget Analysis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212080"/>
            <a:ext cx="548640" cy="5029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" y="523951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8B5CF6"/>
                </a:solidFill>
                <a:latin typeface="Calibri"/>
              </a:defRPr>
            </a:pPr>
            <a:r>
              <a:t>Workflow for Remaining Work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06240" y="5212080"/>
            <a:ext cx="54864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46320" y="523951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Future Scope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5212080"/>
            <a:ext cx="548640" cy="5029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0" y="5239512"/>
            <a:ext cx="301752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What is SMAT and why does it exist?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2a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576072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Calibri"/>
              </a:rPr>
              <a:t>What is SMAT?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4592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sz="1400">
                <a:solidFill>
                  <a:srgbClr val="333333"/>
                </a:solidFill>
                <a:latin typeface="Calibri"/>
              </a:rPr>
              <a:t>▸  Smart Attendance Marking using inaudible ultrasonic audio (18–20 kHz)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33333"/>
                </a:solidFill>
                <a:latin typeface="Calibri"/>
              </a:rPr>
              <a:t>▸  Teacher's device broadcasts encoded sound signal via speakers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33333"/>
                </a:solidFill>
                <a:latin typeface="Calibri"/>
              </a:rPr>
              <a:t>▸  Student's device listens via microphone, decodes the signal automatically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33333"/>
                </a:solidFill>
                <a:latin typeface="Calibri"/>
              </a:rPr>
              <a:t>▸  Ensures physical presence — ultrasonic waves cannot travel through walls or internet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33333"/>
                </a:solidFill>
                <a:latin typeface="Calibri"/>
              </a:rPr>
              <a:t>▸  100% browser-based — zero installation on any device (Web Audio API)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333333"/>
                </a:solidFill>
                <a:latin typeface="Calibri"/>
              </a:rPr>
              <a:t>▸  Role-based system with separate Teacher &amp; Student portals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CF6"/>
                </a:solidFill>
                <a:latin typeface="Calibri"/>
              </a:rPr>
              <a:t>Why Ultrasonic Audio?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6344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Inaudible to humans (&gt;17 kHz) — does not disrupt class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Short range (~5–10m) — naturally limits to classroom boundaries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Cannot be relayed over phone calls or messaging apps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Standard laptop speakers can produce up to 20–22 kHz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Standard phone microphones can capture up to 22–24 kHz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43000"/>
            <a:ext cx="5669280" cy="2926080"/>
          </a:xfrm>
          <a:prstGeom prst="round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End-to-End Attendance 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691640"/>
            <a:ext cx="3200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0992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Teacher enters Class ID, selects duration (1–30 min)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084832"/>
            <a:ext cx="320040" cy="3200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10312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Server generates UUID session + unique 6-char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478024"/>
            <a:ext cx="320040" cy="32004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49631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Browser converts code → ultrasonic tones, broadcasts via speaker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2871216"/>
            <a:ext cx="32004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889504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Student mic captures audio; FFT analyzer decodes 6 characters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3264408"/>
            <a:ext cx="3200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8269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Decoded code sent to server → validates session → marks attendance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3657600"/>
            <a:ext cx="3200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67588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EE"/>
                </a:solidFill>
                <a:latin typeface="Calibri"/>
              </a:rPr>
              <a:t>Teacher sees real-time count update; student sees confirmation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251960"/>
            <a:ext cx="56692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3159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4444"/>
                </a:solidFill>
                <a:latin typeface="Calibri"/>
              </a:rPr>
              <a:t>SMAT vs Other Systems — Quick Comparison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617720"/>
            <a:ext cx="1828800" cy="32004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4617720"/>
            <a:ext cx="1005840" cy="32004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QR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4617720"/>
            <a:ext cx="1005840" cy="32004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RFID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60" y="4617720"/>
            <a:ext cx="1554480" cy="32004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SMAT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37760"/>
            <a:ext cx="1828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Proxy Prevention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83879" y="4937760"/>
            <a:ext cx="10058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20" y="4937760"/>
            <a:ext cx="10058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95560" y="4937760"/>
            <a:ext cx="15544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5230368"/>
            <a:ext cx="182880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No Hardware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5230368"/>
            <a:ext cx="100584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9720" y="5230368"/>
            <a:ext cx="100584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95560" y="5230368"/>
            <a:ext cx="155448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5522976"/>
            <a:ext cx="1828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No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83879" y="5522976"/>
            <a:ext cx="10058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9720" y="5522976"/>
            <a:ext cx="10058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60" y="5522976"/>
            <a:ext cx="15544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815584"/>
            <a:ext cx="182880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Real-time Tracking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3879" y="5815584"/>
            <a:ext cx="100584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89720" y="5815584"/>
            <a:ext cx="100584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195560" y="5815584"/>
            <a:ext cx="1554480" cy="29260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Ultrasonic Encoding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Technical deep-dive into the signal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2b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1161288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5CF6"/>
                </a:solidFill>
                <a:latin typeface="Calibri"/>
              </a:rPr>
              <a:t>Signal Structure — One Complete Broadcast Cycle (~2.3 seconds)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463040" cy="7772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Preamble</a:t>
            </a:r>
            <a:br/>
            <a:r>
              <a:t>17800 Hz</a:t>
            </a:r>
            <a:br/>
            <a:r>
              <a:t>250ms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75104" y="1645920"/>
            <a:ext cx="731520" cy="777240"/>
          </a:xfrm>
          <a:prstGeom prst="round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GAP</a:t>
            </a:r>
            <a:br/>
            <a:r>
              <a:t>90ms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1645920"/>
            <a:ext cx="1051560" cy="77724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 1</a:t>
            </a:r>
            <a:br/>
            <a:r>
              <a:t>18000+</a:t>
            </a:r>
            <a:br/>
            <a:r>
              <a:t>180ms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7912" y="1645920"/>
            <a:ext cx="731520" cy="777240"/>
          </a:xfrm>
          <a:prstGeom prst="round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GAP</a:t>
            </a:r>
            <a:br/>
            <a:r>
              <a:t>90ms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54296" y="1645920"/>
            <a:ext cx="1051560" cy="7772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 2</a:t>
            </a:r>
            <a:br/>
            <a:r>
              <a:t>...</a:t>
            </a:r>
            <a:br/>
            <a:r>
              <a:t>180ms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1645920"/>
            <a:ext cx="731520" cy="777240"/>
          </a:xfrm>
          <a:prstGeom prst="round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GAP</a:t>
            </a:r>
            <a:br/>
            <a:r>
              <a:t>90ms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47104" y="1645920"/>
            <a:ext cx="640080" cy="77724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42048" y="1645920"/>
            <a:ext cx="411480" cy="777240"/>
          </a:xfrm>
          <a:prstGeom prst="round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08392" y="1645920"/>
            <a:ext cx="1051560" cy="7772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 6</a:t>
            </a:r>
            <a:br/>
            <a:r>
              <a:t>...</a:t>
            </a:r>
            <a:br/>
            <a:r>
              <a:t>180ms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14816" y="1645920"/>
            <a:ext cx="1188720" cy="7772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PAUSE</a:t>
            </a:r>
            <a:br/>
            <a:r>
              <a:t>650ms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1645920"/>
            <a:ext cx="914400" cy="7772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↺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246120"/>
            <a:ext cx="5760720" cy="3108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3101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366F1"/>
                </a:solidFill>
                <a:latin typeface="Calibri"/>
              </a:rPr>
              <a:t>Frequency ↔ Character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Charset: A B C D E F G H J K M N P Q R S T U V W X Y Z 2 3 4 5 6 7 8 9  (30 chars, no O/0/I/1/L ambiguity)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77639"/>
            <a:ext cx="914400" cy="27432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977639"/>
            <a:ext cx="914400" cy="27432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Freq (Hz)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3977639"/>
            <a:ext cx="914400" cy="27432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977639"/>
            <a:ext cx="914400" cy="27432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Freq (Hz)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3977639"/>
            <a:ext cx="914400" cy="27432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977639"/>
            <a:ext cx="914400" cy="274320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Freq (Hz)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519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2519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42519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42519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18550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42519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0" y="4251960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498848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498848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18055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4498848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0" y="4498848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18605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4498848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4498848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19155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745736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4745736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18110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0" y="4745736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4745736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18660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0" y="4745736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0" y="4745736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19210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992624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0" y="4992624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18165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4992624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0" y="4992624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18715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4992624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0" y="4992624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19265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239512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0" y="5239512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18220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0" y="5239512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0" y="5239512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18770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0" y="5239512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Z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0" y="5239512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19320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486400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71600" y="5486400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18275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5486400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0" y="5486400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18825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0" y="5486400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0" y="5486400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19375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5733288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71600" y="5733288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18330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0" y="5733288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0" y="5733288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18880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0" y="5733288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0" y="5733288"/>
            <a:ext cx="9144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19430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5980176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0" y="5980176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18385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286000" y="5980176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0" y="5980176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18935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0" y="5980176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1">
                <a:solidFill>
                  <a:srgbClr val="333333"/>
                </a:solidFill>
                <a:latin typeface="Calibri"/>
              </a:defRPr>
            </a:pPr>
            <a:r>
              <a:t>4–9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0" y="5980176"/>
            <a:ext cx="914400" cy="246888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19485–19760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263640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onsolas"/>
              </a:rPr>
              <a:t>Formula:  freq = 18000 + indexOf(char) × 55 Hz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3246120"/>
            <a:ext cx="5669280" cy="3108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00800" y="33101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080"/>
                </a:solidFill>
                <a:latin typeface="Calibri"/>
              </a:rPr>
              <a:t>Detection State Machine (Student Side)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46520" y="3749039"/>
            <a:ext cx="1188720" cy="548640"/>
          </a:xfrm>
          <a:prstGeom prst="round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IDLE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26679" y="3767327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Listen for 17800 Hz preamble
Require ≥4 consecutive frames above -70 dB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297679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CCCC"/>
                </a:solidFill>
                <a:latin typeface="Calibri"/>
              </a:rPr>
              <a:t>↓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46520" y="4407407"/>
            <a:ext cx="11887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AFTER_PRE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26679" y="4425695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Wait for preamble to stop
≥2 frames of silence confirms transition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0" y="4956047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46520" y="5065775"/>
            <a:ext cx="1188720" cy="54864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RECV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26679" y="5084063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Detect data tones (18000–19925 Hz)
Median frequency of ≥2 readings → character
Repeat until 6 characters decoded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0" y="5614415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366F1"/>
                </a:solidFill>
                <a:latin typeface="Calibri"/>
              </a:rPr>
              <a:t>↓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46520" y="5724144"/>
            <a:ext cx="118872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COMPLETE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26679" y="5742432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All 6 chars decoded → auto-submit
Lookup session by code → mark attendance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217920" y="6355080"/>
            <a:ext cx="5669280" cy="13716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Literature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Existing approaches and their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3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5669280" cy="237744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06B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" y="1216152"/>
            <a:ext cx="5522976" cy="411480"/>
          </a:xfrm>
          <a:prstGeom prst="roundRect">
            <a:avLst/>
          </a:prstGeom>
          <a:solidFill>
            <a:srgbClr val="006B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Traditional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Manual roll call — disrupts 5–10 min/session; error-prone in large classes (100+ students)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Paper sign-in sheets — easily forged; no digital trail; impossible to audit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Biometric (fingerprint/face) — ₹10,000–₹50,000/unit; queuing bottleneck; privacy issues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43000"/>
            <a:ext cx="5669280" cy="2377440"/>
          </a:xfrm>
          <a:prstGeom prst="roundRect">
            <a:avLst/>
          </a:prstGeom>
          <a:solidFill>
            <a:srgbClr val="E0F7FA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91072" y="1216152"/>
            <a:ext cx="5522976" cy="4114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Digital Approaches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6916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QR Code — Chowdhury et al. (2019): students share QR screenshots over WhatsApp; 23% proxy rate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GPS-based — Lim et al. (2020): GPS spoof apps on Play Store bypass location checks trivially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Bluetooth beacons — BLE beacons cost ₹2,000–₹5,000 each; need per-room installation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749039"/>
            <a:ext cx="5669280" cy="237744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7472" y="3822191"/>
            <a:ext cx="5522976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Audio/Ultrasonic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79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Dhwani — Nandakumar et al. (ACM SIGCOMM 2013): peer-to-peer acoustic NFC at 18–20 kHz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Chirp.io — commercial data-over-sound SDK; discontinued in 2023; required native SDK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Google Nearby — uses near-ultrasonic audio for proximity; closed-source; Android/iOS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669280" cy="237744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91072" y="3822191"/>
            <a:ext cx="5522976" cy="4114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Research Gap Identified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79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No existing system combines: ultrasonic audio + browser-only + zero hardware + open protocol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All current solutions need native apps, proprietary SDKs, or hardware investment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Calibri"/>
              </a:rPr>
              <a:t>▸  SMAT fills this gap: Web Audio API, standard devices, open frequency protocol, sub-30s marking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Challenges in current attendance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4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2743200" cy="242316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06B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6BB6"/>
                </a:solidFill>
                <a:latin typeface="Calibri"/>
              </a:rPr>
              <a:t>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5727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6BB6"/>
                </a:solidFill>
                <a:latin typeface="Calibri"/>
              </a:rPr>
              <a:t>Time Wastage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Manual roll call consumes 5–10 min
of each lecture for classes &gt;60
students; disrupts flow of teaching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1143000"/>
            <a:ext cx="2743200" cy="242316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EF4444"/>
                </a:solidFill>
                <a:latin typeface="Calibri"/>
              </a:rPr>
              <a:t>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5727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EF4444"/>
                </a:solidFill>
                <a:latin typeface="Calibri"/>
              </a:rPr>
              <a:t>Proxy 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Students mark for absent peers;
QR codes shared via WhatsApp;
friends sign paper sheets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143000"/>
            <a:ext cx="2743200" cy="2423160"/>
          </a:xfrm>
          <a:prstGeom prst="roundRect">
            <a:avLst/>
          </a:prstGeom>
          <a:solidFill>
            <a:srgbClr val="FEF3E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59E0B"/>
                </a:solidFill>
                <a:latin typeface="Calibri"/>
              </a:rPr>
              <a:t>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5727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59E0B"/>
                </a:solidFill>
                <a:latin typeface="Calibri"/>
              </a:rPr>
              <a:t>Location Spoofing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GPS-based apps easily fooled;
VPN/mock location apps widely
available on Android &amp; 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143000"/>
            <a:ext cx="2743200" cy="242316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234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8B5CF6"/>
                </a:solidFill>
                <a:latin typeface="Calibri"/>
              </a:rP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5727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8B5CF6"/>
                </a:solidFill>
                <a:latin typeface="Calibri"/>
              </a:rPr>
              <a:t>Hardware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Biometric (₹10K–₹50K/unit);
RFID tags + readers per room;
Maintenance &amp; power supply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749039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366F1"/>
                </a:solidFill>
                <a:latin typeface="Calibri"/>
              </a:rPr>
              <a:t>▼     ▼     ▼     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206240"/>
            <a:ext cx="11247120" cy="2103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27939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0B981"/>
                </a:solidFill>
                <a:latin typeface="Calibri"/>
              </a:rPr>
              <a:t>Our Solution → SMAT (Smart Attendance using Ultrasonic Audio)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>
                <a:solidFill>
                  <a:srgbClr val="10B981"/>
                </a:solidFill>
                <a:latin typeface="Calibri"/>
              </a:rPr>
              <a:t>▸  Proximity Verified:  </a:t>
            </a:r>
            <a:r>
              <a:rPr sz="1300">
                <a:solidFill>
                  <a:srgbClr val="333333"/>
                </a:solidFill>
                <a:latin typeface="Calibri"/>
              </a:rPr>
              <a:t>Ultrasonic audio (18–20 kHz) only travels ~5–10m in air; cannot penetrate walls → physical presence guaranteed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10B981"/>
                </a:solidFill>
                <a:latin typeface="Calibri"/>
              </a:rPr>
              <a:t>▸  Zero Hardware Cost:  </a:t>
            </a:r>
            <a:r>
              <a:rPr sz="1300">
                <a:solidFill>
                  <a:srgbClr val="333333"/>
                </a:solidFill>
                <a:latin typeface="Calibri"/>
              </a:rPr>
              <a:t>Uses existing laptop speakers &amp; phone microphones — no additional equipment to purchase or maintain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10B981"/>
                </a:solidFill>
                <a:latin typeface="Calibri"/>
              </a:rPr>
              <a:t>▸  Zero Installation:  </a:t>
            </a:r>
            <a:r>
              <a:rPr sz="1300">
                <a:solidFill>
                  <a:srgbClr val="333333"/>
                </a:solidFill>
                <a:latin typeface="Calibri"/>
              </a:rPr>
              <a:t>Entirely runs in the browser via Web Audio API; no mobile app, no plugin, no download required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10B981"/>
                </a:solidFill>
                <a:latin typeface="Calibri"/>
              </a:rPr>
              <a:t>▸  Anti-Replay:  </a:t>
            </a:r>
            <a:r>
              <a:rPr sz="1300">
                <a:solidFill>
                  <a:srgbClr val="333333"/>
                </a:solidFill>
                <a:latin typeface="Calibri"/>
              </a:rPr>
              <a:t>6-char codes from 30-symbol charset → 729 million combos; sessions auto-expire via Redis TTL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10B981"/>
                </a:solidFill>
                <a:latin typeface="Calibri"/>
              </a:rPr>
              <a:t>▸  Real-time:  </a:t>
            </a:r>
            <a:r>
              <a:rPr sz="1300">
                <a:solidFill>
                  <a:srgbClr val="333333"/>
                </a:solidFill>
                <a:latin typeface="Calibri"/>
              </a:rPr>
              <a:t>Teacher sees live student check-in count &amp; names during broadcast; instant feedback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Proposed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Layered architecture with real-time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5a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97280"/>
            <a:ext cx="11612880" cy="1115568"/>
          </a:xfrm>
          <a:prstGeom prst="roundRect">
            <a:avLst/>
          </a:prstGeom>
          <a:solidFill>
            <a:srgbClr val="E6FAF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" y="1133856"/>
            <a:ext cx="11466576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PRESENTATION LAYER  —  Frontend (Browser)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813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index.html (Landing Page)  •  teacher.html (Dashboard + Signal Broadcast)  •  student.html (Listener + History)
Technologies: HTML5, CSS3, JavaScript ES6+, Web Audio API, FFT Visualization, Fetch API
Design: Dark theme (#0f0f23), Inter font, responsive, backdrop-filter blur, CSS animations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21284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377439"/>
            <a:ext cx="11612880" cy="1115568"/>
          </a:xfrm>
          <a:prstGeom prst="roundRect">
            <a:avLst/>
          </a:prstGeom>
          <a:solidFill>
            <a:srgbClr val="EEEFFE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" y="2414015"/>
            <a:ext cx="11466576" cy="32004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APPLICATION LAYER  —  REST API (Express 5 / Node.js 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61487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Route Groups: /auth (register, login, refresh) • /sessions (start, active, history, code/:code) • /attendance (mark, me, list, class/:id, session/:id)
Middleware Pipeline: CORS → JSON parser → Rate Limiter → Auth (JWT verify) → Role check → Controller → Error handler
Error Handling: Custom error classes with HTTP status codes; stack traces in dev mode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493007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366F1"/>
                </a:solidFill>
                <a:latin typeface="Calibri"/>
              </a:rP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57600"/>
            <a:ext cx="11612880" cy="1115568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472" y="3694176"/>
            <a:ext cx="11466576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BUSINESS LOGIC LAYER  —  Service Modules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04164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auth.service.js: bcrypt hash (12 rounds) + JWT sign (2h access, 7d refresh) + refresh rotation + email normalization
session.service.js: UUID v4 generation + 6-char code (30-char set, no ambiguous O/0/I/1/L) + Redis SET EX + Postgres INSERT
attendance.service.js: Redis EXISTS (session valid?) → Redis EXISTS (dedup?) → Redis SET EX 120s → Postgres INSERT + UNIQUE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7731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Calibri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937759"/>
            <a:ext cx="11612880" cy="1115568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" y="4974335"/>
            <a:ext cx="11466576" cy="3200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DATA LAYER  —  PostgreSQL 16 + Redis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21807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PostgreSQL: 3 tables (users, sessions, attendance_records) with indexes on teacher_id, class_id, session_id, student_id
Redis Keys: chirp:session:{uuid} (JSON, TTL=duration) • chirp:code:{6char} (→sessionId, TTL) • attendance:{sid}:{uid} (dedup, 120s) • rl:*:{ip} (rate limit)
Connection: pg.Pool for Postgres, ioredis with lazyConnect + retry strategy (exponential backoff, max 30s) for Redis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System Flow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End-to-end workflow: Teacher broadcast → Student decode → Server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5b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143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366F1"/>
                </a:solidFill>
                <a:latin typeface="Calibri"/>
              </a:rPr>
              <a:t>Teacher Flow (Broadcaster)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1600200"/>
            <a:ext cx="384048" cy="384048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00200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366F1"/>
                </a:solidFill>
                <a:latin typeface="Calibri"/>
              </a:rPr>
              <a:t>Login / Register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POST /auth/login or /register → JWT tokens (access 2h, refresh 7d)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221992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366F1"/>
                </a:solidFill>
                <a:latin typeface="Calibr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404872"/>
            <a:ext cx="384048" cy="384048"/>
          </a:xfrm>
          <a:prstGeom prst="roundRect">
            <a:avLst/>
          </a:prstGeom>
          <a:solidFill>
            <a:srgbClr val="006B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404872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B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BB6"/>
                </a:solidFill>
                <a:latin typeface="Calibri"/>
              </a:rPr>
              <a:t>Configure Session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Enter classId (e.g., 'CS101-A'), pick duration from 1/2/5/10/15/30 min buttons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026664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BB6"/>
                </a:solidFill>
                <a:latin typeface="Calibri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209544"/>
            <a:ext cx="384048" cy="384048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09544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8080"/>
                </a:solidFill>
                <a:latin typeface="Calibri"/>
              </a:rPr>
              <a:t>Start Session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POST /sessions/start → UUID sessionId + 6-char code stored in Redis (TTL) + Postgres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31336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080"/>
                </a:solidFill>
                <a:latin typeface="Calibr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014216"/>
            <a:ext cx="384048" cy="38404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14216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B5CF6"/>
                </a:solidFill>
                <a:latin typeface="Calibri"/>
              </a:rPr>
              <a:t>Broadcast Ultrasonic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Web Audio API: sine oscillators at 17800 Hz (preamble) + 6 data tones, looped continuously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636008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Calibr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818888"/>
            <a:ext cx="384048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18888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Monitor Live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GET /attendance/session/:id polled every 5s → real-time student count + email list on screen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143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Student Flow (Listener)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1600200"/>
            <a:ext cx="384048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1600200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Login / Register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POST /auth/login or /register (role='student') → JWT tokens stored in localStorage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221992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2404872"/>
            <a:ext cx="384048" cy="384048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2404872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8080"/>
                </a:solidFill>
                <a:latin typeface="Calibri"/>
              </a:rPr>
              <a:t>Start Listening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getUserMedia({echoCancellation:false}) → AudioContext → AnalyserNode (FFT 8192)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026664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080"/>
                </a:solidFill>
                <a:latin typeface="Calibri"/>
              </a:rPr>
              <a:t>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3209544"/>
            <a:ext cx="384048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3209544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Detect Preamble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getFloatFrequencyData() every 30ms → peak near 17800 Hz → ≥4 frames above -70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831336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4014216"/>
            <a:ext cx="384048" cy="38404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014216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B5CF6"/>
                </a:solidFill>
                <a:latin typeface="Calibri"/>
              </a:rPr>
              <a:t>Decode 6 Characters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Each tone: ≥2 readings → median freq → freq = 18000 + idx×55 → charAt(idx)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636008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Calibri"/>
              </a:rPr>
              <a:t>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818888"/>
            <a:ext cx="384048" cy="384048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4818888"/>
            <a:ext cx="50292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366F1"/>
                </a:solidFill>
                <a:latin typeface="Calibri"/>
              </a:rPr>
              <a:t>Auto-Submit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GET /sessions/code/:code → sessionId → POST /attendance/mark → 201 Attendance Marked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Database Design &amp; ER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PostgreSQL 16 with pgcrypto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5c /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366F1"/>
                </a:solidFill>
                <a:latin typeface="Calibri"/>
              </a:rPr>
              <a:t>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164592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Column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463040"/>
            <a:ext cx="128016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463040"/>
            <a:ext cx="128016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463040"/>
            <a:ext cx="137160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55648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1755648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UUID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755648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PRIMARY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755648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gen_random_uuid()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011680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2011680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011680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UNIQUE, NOT NULL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011680"/>
            <a:ext cx="137160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Normalized lowercase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67712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password_hash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2267712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267712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226771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bcrypt (12 rounds)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523744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role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523744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2523744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23744"/>
            <a:ext cx="137160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'student' or 'teacher'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779776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created_at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2779776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TIMESTAMP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2779776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DEFAULT NOW()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2779776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Auto-generated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080"/>
                </a:solidFill>
                <a:latin typeface="Calibri"/>
              </a:rPr>
              <a:t>sessions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520440"/>
            <a:ext cx="164592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Column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0" y="3520440"/>
            <a:ext cx="128016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520440"/>
            <a:ext cx="128016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Constraint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3520440"/>
            <a:ext cx="137160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13048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11680" y="3813048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VARCHAR(100)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0" y="3813048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PRIMARY KEY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3813048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UUID v4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069080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class_id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11680" y="4069080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TEXT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91840" y="4069080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0" y="4069080"/>
            <a:ext cx="137160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e.g., 'CS101-A'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25112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0" y="4325112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VARCHAR(6)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40" y="4325112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432511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Random 6-char code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581144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teacher_id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11680" y="4581144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VARCHAR(100)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1840" y="4581144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0" y="4581144"/>
            <a:ext cx="137160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FK → users.id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837176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duration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11680" y="4837176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INTEGER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0" y="4837176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0" y="4837176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Seconds (30–3600)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093208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created_at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11680" y="5093208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TIMESTAMP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40" y="5093208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DEFAULT NOW()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0" y="5093208"/>
            <a:ext cx="137160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Session start time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1143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5CF6"/>
                </a:solidFill>
                <a:latin typeface="Calibri"/>
              </a:rPr>
              <a:t>attendance_records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1463040"/>
            <a:ext cx="164592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Column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1463040"/>
            <a:ext cx="128016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0" y="1463040"/>
            <a:ext cx="100584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Constraint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49840" y="1463040"/>
            <a:ext cx="164592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1755648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1755648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SERIAL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44000" y="1755648"/>
            <a:ext cx="10058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PRIMARY KEY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49840" y="1755648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Auto-increment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7920" y="2011680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session_id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63840" y="2011680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VARCHAR(100)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2011680"/>
            <a:ext cx="100584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49840" y="2011680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FK → sessions.id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0" y="2267712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student_id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63840" y="2267712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VARCHAR(100)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144000" y="2267712"/>
            <a:ext cx="10058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NOT NULL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49840" y="2267712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FK → users.id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17920" y="2523744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timestamp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63840" y="2523744"/>
            <a:ext cx="128016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TIMESTAMP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144000" y="2523744"/>
            <a:ext cx="100584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DEFAULT NOW()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49840" y="2523744"/>
            <a:ext cx="164592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When marked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2779776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2779776"/>
            <a:ext cx="1280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0" y="2779776"/>
            <a:ext cx="10058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UNIQUE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49840" y="2779776"/>
            <a:ext cx="16459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(session_id, student_id)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Calibri"/>
              </a:rPr>
              <a:t>Indexes (Performance)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66160"/>
            <a:ext cx="5577840" cy="1463040"/>
          </a:xfrm>
          <a:prstGeom prst="roundRect">
            <a:avLst/>
          </a:prstGeom>
          <a:solidFill>
            <a:srgbClr val="FEF3E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55080" y="361188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idx_sessions_teacher ON sessions(teacher_id)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idx_sessions_class ON sessions(class_id)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idx_attendance_session ON attendance_records(session_id)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idx_attendance_student ON attendance_records(student_id)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UNIQUE(session_id, student_id) — prevents duplicate attendance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17920" y="5166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Calibri"/>
              </a:rPr>
              <a:t>Redis Key Schema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217920" y="5486400"/>
            <a:ext cx="5577840" cy="9144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263640" y="5532120"/>
            <a:ext cx="5486400" cy="82296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00800" y="56235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chirp:session:{uuid}  → JSON {classId,teacherId,code} TTL=duration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chirp:code:{6CHAR}    → sessionId                     TTL=duration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attendance:{sid}:{uid} → '1'                           TTL=120s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rl:login:{ip}         → count                         TTL=60s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rl:register:{ip}      → count                         TTL=60s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rl:mark:{ip}          → count                         TTL=60s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53492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Entity Relationships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669280"/>
            <a:ext cx="5577840" cy="731520"/>
          </a:xfrm>
          <a:prstGeom prst="roundRect">
            <a:avLst/>
          </a:prstGeom>
          <a:solidFill>
            <a:srgbClr val="E6FAF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5687568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users (1) ——→ (N) sessions  [teacher creates many sessions]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sessions (1) ——→ (N) attendance_records  [each session has many records]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▸  users (1) ——→ (N) attendance_records  [student has many records]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API Design &amp;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RESTful API with 13 endpoints across 3 route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5d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43000"/>
            <a:ext cx="822960" cy="347472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143000"/>
            <a:ext cx="3017520" cy="347472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Endpoint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143000"/>
            <a:ext cx="1645920" cy="347472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143000"/>
            <a:ext cx="1828800" cy="347472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143000"/>
            <a:ext cx="4297680" cy="347472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490472"/>
            <a:ext cx="8229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6366F1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1490472"/>
            <a:ext cx="30175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/auth/register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490472"/>
            <a:ext cx="16459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1490472"/>
            <a:ext cx="182880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490472"/>
            <a:ext cx="429768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Create account (email, password, role) → JWT tokens + user object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847088"/>
            <a:ext cx="82296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6366F1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1847088"/>
            <a:ext cx="30175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/auth/login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1847088"/>
            <a:ext cx="16459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1847088"/>
            <a:ext cx="182880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1847088"/>
            <a:ext cx="429768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Authenticate credentials → JWT access (2h) + refresh (7d) tokens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203704"/>
            <a:ext cx="8229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6366F1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2203704"/>
            <a:ext cx="30175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/auth/refresh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2203704"/>
            <a:ext cx="16459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2203704"/>
            <a:ext cx="182880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0" y="2203704"/>
            <a:ext cx="429768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Exchange refresh token for new access token (rotation)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560320"/>
            <a:ext cx="82296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6366F1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7280" y="2560320"/>
            <a:ext cx="30175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/sessions/start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2560320"/>
            <a:ext cx="16459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2560320"/>
            <a:ext cx="182880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0" y="2560320"/>
            <a:ext cx="429768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Create session (classId, duration) → sessionId + 6-char code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916936"/>
            <a:ext cx="8229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2916936"/>
            <a:ext cx="30175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/sessions/active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2916936"/>
            <a:ext cx="16459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2916936"/>
            <a:ext cx="182880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2916936"/>
            <a:ext cx="429768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List all live sessions for this teacher (from Redis, with TTL)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273552"/>
            <a:ext cx="82296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97280" y="3273552"/>
            <a:ext cx="30175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/sessions/history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3273552"/>
            <a:ext cx="16459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73552"/>
            <a:ext cx="182880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89520" y="3273552"/>
            <a:ext cx="429768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All past sessions with student_count (Postgres JOIN query)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630168"/>
            <a:ext cx="8229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7280" y="3630168"/>
            <a:ext cx="30175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/sessions/code/:code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3630168"/>
            <a:ext cx="16459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3630168"/>
            <a:ext cx="182880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89520" y="3630168"/>
            <a:ext cx="429768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Lookup session by 6-char code → sessionId + classId + remaining TTL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3986783"/>
            <a:ext cx="82296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6366F1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3986783"/>
            <a:ext cx="30175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/attendance/mark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0" y="3986783"/>
            <a:ext cx="16459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720" y="3986783"/>
            <a:ext cx="182880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89520" y="3986783"/>
            <a:ext cx="429768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Mark attendance (sessionId) → Redis dedup → Postgres INSERT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343400"/>
            <a:ext cx="8229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97280" y="4343400"/>
            <a:ext cx="30175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/attendance/me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0" y="4343400"/>
            <a:ext cx="16459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60720" y="4343400"/>
            <a:ext cx="182880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4343400"/>
            <a:ext cx="429768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My attendance history with class_id + session_code (paginated)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4700016"/>
            <a:ext cx="82296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97280" y="4700016"/>
            <a:ext cx="30175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/attendance/list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4700016"/>
            <a:ext cx="16459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60720" y="4700016"/>
            <a:ext cx="182880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700016"/>
            <a:ext cx="429768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All attendance records (admin view, paginated, limit 200)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056632"/>
            <a:ext cx="8229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97280" y="5056632"/>
            <a:ext cx="30175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/attendance/class/:classId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0" y="5056632"/>
            <a:ext cx="164592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5056632"/>
            <a:ext cx="182880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89520" y="5056632"/>
            <a:ext cx="429768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All records for a class (multi-session, with student emails)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413248"/>
            <a:ext cx="82296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1">
                <a:solidFill>
                  <a:srgbClr val="10B981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97280" y="5413248"/>
            <a:ext cx="30175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/attendance/session/:sessionId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0" y="5413248"/>
            <a:ext cx="164592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60720" y="5413248"/>
            <a:ext cx="182880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89520" y="5413248"/>
            <a:ext cx="4297680" cy="356616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Records for specific session (live polling during broadcast)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58064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"/>
              </a:rPr>
              <a:t>Rate Limiting (Redis-backed, per IP):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Register:  </a:t>
            </a:r>
            <a:r>
              <a:rPr sz="1200">
                <a:solidFill>
                  <a:srgbClr val="333333"/>
                </a:solidFill>
                <a:latin typeface="Calibri"/>
              </a:rPr>
              <a:t>5 requests/min (rl:register:{ip})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Login:  </a:t>
            </a:r>
            <a:r>
              <a:rPr sz="1200">
                <a:solidFill>
                  <a:srgbClr val="333333"/>
                </a:solidFill>
                <a:latin typeface="Calibri"/>
              </a:rPr>
              <a:t>10 requests/min (rl:login:{ip})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Mark Attendance:  </a:t>
            </a:r>
            <a:r>
              <a:rPr sz="1200">
                <a:solidFill>
                  <a:srgbClr val="333333"/>
                </a:solidFill>
                <a:latin typeface="Calibri"/>
              </a:rPr>
              <a:t>10 requests/min (rl:mark:{ip})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Fail-open:  </a:t>
            </a:r>
            <a:r>
              <a:rPr sz="1200">
                <a:solidFill>
                  <a:srgbClr val="333333"/>
                </a:solidFill>
                <a:latin typeface="Calibri"/>
              </a:rPr>
              <a:t>If Redis is down, rate limiter passes through (doesn't block auth)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Security Architecture &amp;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Authentication, authorization, and protection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5e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576072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" y="1188720"/>
            <a:ext cx="5614416" cy="384048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Authentication (JWT + bcrypt)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6459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200" b="1">
                <a:solidFill>
                  <a:srgbClr val="6366F1"/>
                </a:solidFill>
                <a:latin typeface="Calibri"/>
              </a:rPr>
              <a:t>▸  Password Storage:  </a:t>
            </a:r>
            <a:r>
              <a:rPr sz="1200">
                <a:solidFill>
                  <a:srgbClr val="333333"/>
                </a:solidFill>
                <a:latin typeface="Calibri"/>
              </a:rPr>
              <a:t>bcrypt hash with salt rounds = 12 (brute-force resistant)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6366F1"/>
                </a:solidFill>
                <a:latin typeface="Calibri"/>
              </a:rPr>
              <a:t>▸  Access Token:  </a:t>
            </a:r>
            <a:r>
              <a:rPr sz="1200">
                <a:solidFill>
                  <a:srgbClr val="333333"/>
                </a:solidFill>
                <a:latin typeface="Calibri"/>
              </a:rPr>
              <a:t>JWT signed with HMAC-SHA256, expires in 2 hours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6366F1"/>
                </a:solidFill>
                <a:latin typeface="Calibri"/>
              </a:rPr>
              <a:t>▸  Refresh Token:  </a:t>
            </a:r>
            <a:r>
              <a:rPr sz="1200">
                <a:solidFill>
                  <a:srgbClr val="333333"/>
                </a:solidFill>
                <a:latin typeface="Calibri"/>
              </a:rPr>
              <a:t>Separate secret (JWT_SECRET + '_refresh'), expires in 7 days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6366F1"/>
                </a:solidFill>
                <a:latin typeface="Calibri"/>
              </a:rPr>
              <a:t>▸  Token Refresh:  </a:t>
            </a:r>
            <a:r>
              <a:rPr sz="1200">
                <a:solidFill>
                  <a:srgbClr val="333333"/>
                </a:solidFill>
                <a:latin typeface="Calibri"/>
              </a:rPr>
              <a:t>POST /auth/refresh → verifies refresh token → issues new access token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6366F1"/>
                </a:solidFill>
                <a:latin typeface="Calibri"/>
              </a:rPr>
              <a:t>▸  Auto-Refresh:  </a:t>
            </a:r>
            <a:r>
              <a:rPr sz="1200">
                <a:solidFill>
                  <a:srgbClr val="333333"/>
                </a:solidFill>
                <a:latin typeface="Calibri"/>
              </a:rPr>
              <a:t>Frontend interceptor: on 401 → try refresh → retry original request → else logout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43000"/>
            <a:ext cx="566928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91072" y="1188720"/>
            <a:ext cx="5522976" cy="38404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Authorization &amp; Middleware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664208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Request → CORS → JSON Parse → Rate Limit → Auth → Role → Controller → Error Handler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202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200" b="1">
                <a:solidFill>
                  <a:srgbClr val="8B5CF6"/>
                </a:solidFill>
                <a:latin typeface="Calibri"/>
              </a:rPr>
              <a:t>▸  authMiddleware:  </a:t>
            </a:r>
            <a:r>
              <a:rPr sz="1200">
                <a:solidFill>
                  <a:srgbClr val="333333"/>
                </a:solidFill>
                <a:latin typeface="Calibri"/>
              </a:rPr>
              <a:t>Extracts Bearer token from header, strips quotes (Postman fix), verifies JWT, sets req.user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8B5CF6"/>
                </a:solidFill>
                <a:latin typeface="Calibri"/>
              </a:rPr>
              <a:t>▸  requireRole():  </a:t>
            </a:r>
            <a:r>
              <a:rPr sz="1200">
                <a:solidFill>
                  <a:srgbClr val="333333"/>
                </a:solidFill>
                <a:latin typeface="Calibri"/>
              </a:rPr>
              <a:t>Variadic role check — requireRole('teacher') blocks students and vice versa → 403 Forbidden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8B5CF6"/>
                </a:solidFill>
                <a:latin typeface="Calibri"/>
              </a:rPr>
              <a:t>▸  Error Handler:  </a:t>
            </a:r>
            <a:r>
              <a:rPr sz="1200">
                <a:solidFill>
                  <a:srgbClr val="333333"/>
                </a:solidFill>
                <a:latin typeface="Calibri"/>
              </a:rPr>
              <a:t>Catches all thrown errors; sends {message, status}; stack trace only in NODE_ENV=development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8B5CF6"/>
                </a:solidFill>
                <a:latin typeface="Calibri"/>
              </a:rPr>
              <a:t>▸  404 Handler:  </a:t>
            </a:r>
            <a:r>
              <a:rPr sz="1200">
                <a:solidFill>
                  <a:srgbClr val="333333"/>
                </a:solidFill>
                <a:latin typeface="Calibri"/>
              </a:rPr>
              <a:t>Catches unmatched routes → { message: 'Route not found'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749039"/>
            <a:ext cx="5760720" cy="2606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7472" y="3794760"/>
            <a:ext cx="5614416" cy="38404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Anti-Abuse &amp; Data Integrity Measures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2519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Duplicate Prevention:  </a:t>
            </a:r>
            <a:r>
              <a:rPr sz="1200">
                <a:solidFill>
                  <a:srgbClr val="333333"/>
                </a:solidFill>
                <a:latin typeface="Calibri"/>
              </a:rPr>
              <a:t>Redis dedup key (attendance:{sid}:{uid}, TTL 120s) + Postgres UNIQUE(session_id, student_id)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Postgres 23505:  </a:t>
            </a:r>
            <a:r>
              <a:rPr sz="1200">
                <a:solidFill>
                  <a:srgbClr val="333333"/>
                </a:solidFill>
                <a:latin typeface="Calibri"/>
              </a:rPr>
              <a:t>Unique violation caught → returns HTTP 409 'Already marked'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Session Expiry:  </a:t>
            </a:r>
            <a:r>
              <a:rPr sz="1200">
                <a:solidFill>
                  <a:srgbClr val="333333"/>
                </a:solidFill>
                <a:latin typeface="Calibri"/>
              </a:rPr>
              <a:t>Redis TTL auto-deletes session &amp; code keys → expired codes fail lookup → 404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Code Uniqueness:  </a:t>
            </a:r>
            <a:r>
              <a:rPr sz="1200">
                <a:solidFill>
                  <a:srgbClr val="333333"/>
                </a:solidFill>
                <a:latin typeface="Calibri"/>
              </a:rPr>
              <a:t>Generated codes checked against Redis; up to 10 attempts before 500 error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Rate Limiting:  </a:t>
            </a:r>
            <a:r>
              <a:rPr sz="1200">
                <a:solidFill>
                  <a:srgbClr val="333333"/>
                </a:solidFill>
                <a:latin typeface="Calibri"/>
              </a:rPr>
              <a:t>Redis INCR + EXPIRE pattern; per-IP tracking; Retry-After header on 429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Email Normalization:  </a:t>
            </a:r>
            <a:r>
              <a:rPr sz="1200">
                <a:solidFill>
                  <a:srgbClr val="333333"/>
                </a:solidFill>
                <a:latin typeface="Calibri"/>
              </a:rPr>
              <a:t>trim().toLowerCase() on all email inputs prevents duplicate accounts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EF4444"/>
                </a:solidFill>
                <a:latin typeface="Calibri"/>
              </a:rPr>
              <a:t>▸  Input Validation:  </a:t>
            </a:r>
            <a:r>
              <a:rPr sz="1200">
                <a:solidFill>
                  <a:srgbClr val="333333"/>
                </a:solidFill>
                <a:latin typeface="Calibri"/>
              </a:rPr>
              <a:t>classId type check, duration range (30–3600s), sessionId required 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49039"/>
            <a:ext cx="5669280" cy="2606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3794760"/>
            <a:ext cx="5522976" cy="384048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Docker &amp; Deployment Architecture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4251960"/>
            <a:ext cx="5394960" cy="201168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# docker-compose.yml — 3 services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postgres:  postgres:16-alpine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Port 5432, DB: smartchirp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Volume: pgdata (persistent)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Init: schema.sql auto-applied on first run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Healthcheck: pg_isready every 5s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redis:  redis:7-alpine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Port 6379, healthcheck: redis-cli ping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api:  node:20-alpine (Dockerfile)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npm ci → node src/server.js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depends_on: postgres + redis (healthy)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CDD6F4"/>
                </a:solidFill>
                <a:latin typeface="Consolas"/>
              </a:rPr>
              <a:t>  - Env: PORT, JWT_SECRET, REDIS_URL, DB_URL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Hardware &amp; Software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6 /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576072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6B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1188720"/>
            <a:ext cx="5614416" cy="411480"/>
          </a:xfrm>
          <a:prstGeom prst="roundRect">
            <a:avLst/>
          </a:prstGeom>
          <a:solidFill>
            <a:srgbClr val="006B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Hardware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B6"/>
                </a:solidFill>
                <a:latin typeface="Calibri"/>
              </a:rPr>
              <a:t>▸  Teacher Device: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Laptop/desktop with speakers (freq response ≥18 kHz);
most modern laptop speakers reach 20–22 kHz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9572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B6"/>
                </a:solidFill>
                <a:latin typeface="Calibri"/>
              </a:rPr>
              <a:t>▸  Student Device: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9689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Smartphone or laptop with microphone;
standard MEMS mics capture up to 22–24 kHz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B6"/>
                </a:solidFill>
                <a:latin typeface="Calibri"/>
              </a:rPr>
              <a:t>▸  Network: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5526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Wi-Fi / LAN / Mobile data for API calls;
ultrasonic signal itself travels only through air (offline)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1246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B6"/>
                </a:solidFill>
                <a:latin typeface="Calibri"/>
              </a:rPr>
              <a:t>▸  Server: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machine running Node.js 20+, PostgreSQL 16,
Redis 7; or free cloud tiers (Render, Railway, Fly.io)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7083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BB6"/>
                </a:solidFill>
                <a:latin typeface="Calibri"/>
              </a:rPr>
              <a:t>▸  Special Hardware: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NONE — zero additional equipment required;
works entirely on existing consumer devices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143000"/>
            <a:ext cx="566928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91072" y="1188720"/>
            <a:ext cx="5522976" cy="41148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Software Stack (package.json)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691640"/>
            <a:ext cx="182880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155448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691640"/>
            <a:ext cx="2011680" cy="29260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Purpose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1984248"/>
            <a:ext cx="18288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express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1984248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^5.2.1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38360" y="1984248"/>
            <a:ext cx="20116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REST API framework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2258568"/>
            <a:ext cx="182880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pg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2258568"/>
            <a:ext cx="15544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^8.17.2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38360" y="2258568"/>
            <a:ext cx="20116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PostgreSQL client (Pool)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532888"/>
            <a:ext cx="18288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ioredis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2532888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^5.9.2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8360" y="2532888"/>
            <a:ext cx="20116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Redis client (lazy connect)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807208"/>
            <a:ext cx="182880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jsonwebtoken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83879" y="2807208"/>
            <a:ext cx="15544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^9.0.3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8360" y="2807208"/>
            <a:ext cx="20116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JWT sign/verify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3081528"/>
            <a:ext cx="18288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bcrypt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79" y="3081528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^6.0.0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38360" y="3081528"/>
            <a:ext cx="20116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Password hashing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355848"/>
            <a:ext cx="182880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uuid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3355848"/>
            <a:ext cx="15544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^13.0.0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8360" y="3355848"/>
            <a:ext cx="20116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UUID v4 generation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630168"/>
            <a:ext cx="18288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dotenv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79" y="3630168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^17.2.3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38360" y="3630168"/>
            <a:ext cx="20116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Environment config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3904487"/>
            <a:ext cx="182880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cors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3879" y="3904487"/>
            <a:ext cx="15544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^2.8.6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38360" y="3904487"/>
            <a:ext cx="20116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Cross-origin requests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4178808"/>
            <a:ext cx="5394960" cy="1828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4453127"/>
            <a:ext cx="182880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83879" y="4453127"/>
            <a:ext cx="15544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20 (alpine)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38360" y="4453127"/>
            <a:ext cx="20116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Runtime (ESM modules)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4727448"/>
            <a:ext cx="18288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PostgreSQL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83879" y="4727448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16 (alpine)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38360" y="4727448"/>
            <a:ext cx="20116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Relational database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55080" y="5001768"/>
            <a:ext cx="182880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Redis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83879" y="5001768"/>
            <a:ext cx="15544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7 (alpine)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38360" y="5001768"/>
            <a:ext cx="2011680" cy="2743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In-memory cache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5276088"/>
            <a:ext cx="18288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1">
                <a:solidFill>
                  <a:srgbClr val="333333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83879" y="5276088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Compose v2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38360" y="5276088"/>
            <a:ext cx="20116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Container orchestration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5669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Frontend: HTML5 + CSS3 + ES6+ JavaScript
+ Web Audio API (AudioContext, AnalyserNode, OscillatorNode)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Implementation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Module-by-module development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7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4300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Authentication System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JWT (2h access + 7d refresh), bcrypt 12 rounds, auto
token refresh interceptor, role enforcement middleware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4300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114300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Teacher Dashboard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Start session with class ID + duration selection (1/2/5/
10/15/30 min), view active sessions, search by class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10312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10312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Ultrasonic Broadcaster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Web Audio API: OscillatorNode → GainNode → destination;
preamble 17800Hz + 6 data tones, gain ramping (6ms)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210312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Ultrasonic Listener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getUserMedia → MediaStreamSource → AnalyserNode (8192);
state machine: IDLE→AFTER_PRE→RECV→COMPLETE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06324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6324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Session Management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UUID v4 sessions, 6-char code (30 symbols, no ambiguous),
Redis SET EX for TTL, Postgres INSERT ON CONFLICT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06324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06324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Attendance Recording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Redis EXISTS (dedup, 120s TTL) + Postgres INSERT with
UNIQUE constraint; 409 on duplicate; paginated queries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02336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02336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Database &amp; Indexes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3 tables, 4 indexes, pgcrypto UUID, schema auto-applied
via docker-entrypoint-initdb.d on first container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02336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02336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REST API (13 endpoints)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3 route groups, rate limiting (5/10/10 per min), CORS,
JSON error handler, 404 catch-all, role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498348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98348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Frontend UI/UX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Dark theme (#0f0f23), Inter font, FFT frequency bars,
animated signal rings, responsive, backdrop-filter blur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983480"/>
            <a:ext cx="347472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4983480"/>
            <a:ext cx="52578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3366"/>
                </a:solidFill>
                <a:latin typeface="Calibri"/>
              </a:rPr>
              <a:t>Docker Deployment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3-service compose (postgres:16, redis:7, node:20),
healthchecks, persistent volume, env-based config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6035040"/>
            <a:ext cx="11612880" cy="365760"/>
          </a:xfrm>
          <a:prstGeom prst="roundRect">
            <a:avLst/>
          </a:prstGeom>
          <a:solidFill>
            <a:srgbClr val="E6FAF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✓  10 / 10 Core Modules Complete   •   Status: ~90%   •   Testing &amp; Optimization Phase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Results &amp; Demonstrations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Key outcomes from testing and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8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5669280" cy="2423160"/>
          </a:xfrm>
          <a:prstGeom prst="roundRect">
            <a:avLst/>
          </a:prstGeom>
          <a:solidFill>
            <a:srgbClr val="EEEFFE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" y="1197864"/>
            <a:ext cx="5522976" cy="384048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Ultrasonic Signal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64592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Generates 7 tones per cycle (1 preamble + 6 data) at 17800–19925 Hz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Gain ramping (6ms) prevents audible pops/clicks at tone boundaries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Total cycle time: ~2.3s (250ms preamble + 6×180ms tones + 6×90ms gaps + 650ms pause)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Signal is completely inaudible — confirmed with frequency analyzer apps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Works on Chrome, Edge, Firefox via standard AudioContext + OscillatorNode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43000"/>
            <a:ext cx="5669280" cy="2423160"/>
          </a:xfrm>
          <a:prstGeom prst="roundRect">
            <a:avLst/>
          </a:prstGeom>
          <a:solidFill>
            <a:srgbClr val="E0F7FA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91072" y="1197864"/>
            <a:ext cx="5522976" cy="384048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Signal Detection &amp; Decoding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64592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FFT with 8192 bins at ~48 kHz sample rate → bin width ~5.86 Hz (sub-6 Hz resolution)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Quadratic interpolation on peak bins for sub-bin frequency accuracy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State machine with 8-second timeout prevents false detections from ambient noise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Median frequency filtering: requires ≥2 tone readings before accepting a character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Successful decoding in &lt;5 seconds from first signal detection in quiet classroom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749039"/>
            <a:ext cx="5669280" cy="242316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7472" y="3803903"/>
            <a:ext cx="5522976" cy="38404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Server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51959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User registration: ~200ms (bcrypt 12 rounds dominates; hash = ~190ms)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Login: ~200ms (bcrypt.compare); JWT sign &lt; 1ms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Session creation: ~50ms (Redis SET + Postgres INSERT concurrent)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Attendance marking: ~30ms (Redis EXISTS + EXISTS + SET + Postgres INSERT)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Session lookup by code: ~5ms (Redis GET → GET → TTL; all in-memory)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669280" cy="2423160"/>
          </a:xfrm>
          <a:prstGeom prst="roundRect">
            <a:avLst/>
          </a:prstGeom>
          <a:solidFill>
            <a:srgbClr val="E6FAF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91072" y="3803903"/>
            <a:ext cx="5522976" cy="38404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Proximity &amp;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251959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Effective range: ~5–10 meters (typical classroom); walls block signal completely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6-char codes from 30 symbols → 30^6 = 729,000,000 possible combinations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Sessions auto-expire: Redis TTL ensures codes become invalid after duration elapses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Duplicate rejection: Redis dedup (120s) + DB UNIQUE constraint = double protection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•  Role enforcement: teacher-only and student-only endpoints return 403 on mismatch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Advantages &amp;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9 /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576072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1188720"/>
            <a:ext cx="5614416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Advantages of SMAT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37360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71907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Proximity 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385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Ultrasonic range ~5–10m; cannot pass through
walls — only students in the room can 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14016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9572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Zero Hardware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Uses existing laptops &amp; phones; no fingerprint
scanner, RFID reader, or BLE beacon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90672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07238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Zero Installation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Runs entirely in the browser; no app download,
no plugin — Chrome, Edge, Firefox, Safari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67328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Anti-Proxy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6849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Ultrasonic signals can't be relayed over calls
or WhatsApp — no remote proxy possible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43984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2569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Real-time 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6451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Teacher sees live count + student names as
they check in; instant during broadcast window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20640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1023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Fast &amp; Non-Disruptive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3218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cycle in ~2.3s; auto-detect &lt; 30s total;
signal is inaudible — zero class disruption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797296"/>
            <a:ext cx="27432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7900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Auto-Expiry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9846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Redis TTL ensures sessions expire automatically;
no stale codes; clean state management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1143000"/>
            <a:ext cx="566928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91072" y="1188720"/>
            <a:ext cx="5522976" cy="4114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Applications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1783080"/>
            <a:ext cx="53949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400" b="1">
                <a:solidFill>
                  <a:srgbClr val="6366F1"/>
                </a:solidFill>
                <a:latin typeface="Calibri"/>
              </a:rPr>
              <a:t>Universities &amp; Colleges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Large lecture halls with 100–500+ students;
automates what takes 5–10 min manually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87752"/>
            <a:ext cx="53949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400" b="1">
                <a:solidFill>
                  <a:srgbClr val="008080"/>
                </a:solidFill>
                <a:latin typeface="Calibri"/>
              </a:rPr>
              <a:t>Schools (K–12)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Daily automated attendance; reduces teacher
admin burden; digital records for parents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3392424"/>
            <a:ext cx="53949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400" b="1">
                <a:solidFill>
                  <a:srgbClr val="8B5CF6"/>
                </a:solidFill>
                <a:latin typeface="Calibri"/>
              </a:rPr>
              <a:t>Corporate Training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Workshop &amp; seminar presence verification;
no badge system needed; works immediately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4197096"/>
            <a:ext cx="53949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Examination Halls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Verify candidate physical presence during
exams; prevent proxy test-takers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5001768"/>
            <a:ext cx="53949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Conferences &amp; Events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Track per-session attendance at multi-track
conferences; no registration desk queuing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5806440"/>
            <a:ext cx="539496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Coaching Institutes</a:t>
            </a:r>
          </a:p>
          <a:p>
            <a:pPr>
              <a:spcBef>
                <a:spcPts val="100"/>
              </a:spcBef>
            </a:pPr>
            <a:r>
              <a:rPr sz="1100">
                <a:solidFill>
                  <a:srgbClr val="333333"/>
                </a:solidFill>
                <a:latin typeface="Calibri"/>
              </a:rPr>
              <a:t>Monitor student regularity; generate
engagement reports; alert on low attendance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Budget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Cost breakdown — near-zero budget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194560" cy="38404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188720"/>
            <a:ext cx="3657600" cy="38404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1828800" cy="38404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Cost (₹)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749039" cy="384048"/>
          </a:xfrm>
          <a:prstGeom prst="rect">
            <a:avLst/>
          </a:prstGeom>
          <a:solidFill>
            <a:srgbClr val="0A1F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2768"/>
            <a:ext cx="2194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Development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1572768"/>
            <a:ext cx="3657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VS Code, Git, Docker 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572768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572768"/>
            <a:ext cx="3749039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All free &amp; open-source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84248"/>
            <a:ext cx="219456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Backend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1984248"/>
            <a:ext cx="36576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Node.js 20 + Express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984248"/>
            <a:ext cx="18288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1984248"/>
            <a:ext cx="3749039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Open-source; MIT license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95728"/>
            <a:ext cx="2194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395728"/>
            <a:ext cx="3657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PostgreSQL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395728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395728"/>
            <a:ext cx="3749039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Free tier: Render (1GB), Supabase (500MB)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807208"/>
            <a:ext cx="219456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Cache / Session Store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2807208"/>
            <a:ext cx="36576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Redis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807208"/>
            <a:ext cx="18288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2807208"/>
            <a:ext cx="3749039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Free tier: Upstash (10K cmds/day), Railway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218688"/>
            <a:ext cx="2194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Cloud Hosting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3218688"/>
            <a:ext cx="3657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API server (VPS)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218688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 – 500/mo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3218688"/>
            <a:ext cx="3749039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Free: Render (750h), Railway ($5 free), Fly.io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30168"/>
            <a:ext cx="219456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Domain Name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0" y="3630168"/>
            <a:ext cx="36576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Custom domain (optional)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630168"/>
            <a:ext cx="18288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500 – 1000/yr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3630168"/>
            <a:ext cx="3749039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Optional; free subdomain works (.onrender.com)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041648"/>
            <a:ext cx="2194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SSL / HTTPS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0" y="4041648"/>
            <a:ext cx="3657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TLS certificate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041648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4041648"/>
            <a:ext cx="3749039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Auto-provisioned by hosting platform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453128"/>
            <a:ext cx="219456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Hardware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4453128"/>
            <a:ext cx="36576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Additional equipment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453128"/>
            <a:ext cx="1828800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6720" y="4453128"/>
            <a:ext cx="3749039" cy="411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Uses existing laptops, phones, speakers, mics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864608"/>
            <a:ext cx="21945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npm 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0320" y="4864608"/>
            <a:ext cx="3657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8 packages (bcrypt, pg, etc.)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864608"/>
            <a:ext cx="18288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₹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864608"/>
            <a:ext cx="3749039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All open-source; no paid licenses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5413248"/>
            <a:ext cx="11430000" cy="502920"/>
          </a:xfrm>
          <a:prstGeom prst="roundRect">
            <a:avLst/>
          </a:prstGeom>
          <a:solidFill>
            <a:srgbClr val="E6FAF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B981"/>
                </a:solidFill>
                <a:latin typeface="Calibri"/>
              </a:rPr>
              <a:t>Total Estimated Cost:   ₹0 — ₹1,500   </a:t>
            </a:r>
            <a:r>
              <a:rPr sz="1300">
                <a:solidFill>
                  <a:srgbClr val="333333"/>
                </a:solidFill>
                <a:latin typeface="Calibri"/>
              </a:rPr>
              <a:t>(entirely achievable with free cloud tiers — true zero-cost deployment)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Workflow for Remaining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6-week timeline to production-ready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11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97280"/>
            <a:ext cx="1280160" cy="8686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Week 1–2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1097280"/>
            <a:ext cx="3108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366F1"/>
                </a:solidFill>
                <a:latin typeface="Calibri"/>
              </a:defRPr>
            </a:pPr>
            <a:r>
              <a:t>Cross-Browser &amp; Environmental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097280"/>
            <a:ext cx="7040880" cy="868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Test ultrasonic gen/detect on Chrome, Firefox, Edge, Safari (desktop + mobile)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Benchmark in noisy environments: fan noise, ambient chatter, music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Test with varied hardware: budget phones, old laptops, external speakers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Measure detection success rate at 2m, 5m, 8m, 10m distances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121408"/>
            <a:ext cx="1280160" cy="8686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2121408"/>
            <a:ext cx="3108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Security Hardening &amp;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2121408"/>
            <a:ext cx="7040880" cy="868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HTTPS enforcement (required for getUserMedia in all modern browsers)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Rate limit tuning; brute-force protection; input sanitization (XSS/SQLi)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Refresh token rotation: invalidate old tokens on refresh; blacklist on logout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Penetration testing: replay attacks, token theft, code enumeration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145536"/>
            <a:ext cx="1280160" cy="8686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3145536"/>
            <a:ext cx="3108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B5CF6"/>
                </a:solidFill>
                <a:latin typeface="Calibri"/>
              </a:defRPr>
            </a:pPr>
            <a:r>
              <a:t>UI/UX Polish &amp; Accessibility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145536"/>
            <a:ext cx="7040880" cy="868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Responsive testing across mobile (320px) / tablet (768px) / desktop viewports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ARIA labels, keyboard navigation, color contrast (WCAG 2.1 AA compliance)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Loading skeletons, empty states, better error messages with retry actions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First-time user onboarding: tooltips explaining ultrasonic 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169664"/>
            <a:ext cx="1280160" cy="8686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Week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4169664"/>
            <a:ext cx="3108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Performance &amp; Audio Optimization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4169664"/>
            <a:ext cx="7040880" cy="868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FFT parameter tuning: bin size vs. speed trade-off; smoothingTimeConstant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Database: EXPLAIN ANALYZE on heavy queries; connection pool sizing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Redis: memory usage profiling; key expiry audit; pipeline batch operations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Detection accuracy: measure false positives/negatives; confidence scoring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5193792"/>
            <a:ext cx="1280160" cy="8686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Week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5193792"/>
            <a:ext cx="310896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  <a:latin typeface="Calibri"/>
              </a:defRPr>
            </a:pPr>
            <a:r>
              <a:t>Deployment &amp; Documentation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5193792"/>
            <a:ext cx="7040880" cy="8686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Production deploy: Render/Railway + managed Postgres + Upstash Redis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API docs: Postman collection export; Swagger/OpenAPI spec generation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User manual for teachers (broadcast) and students (listen + mark)</a:t>
            </a:r>
          </a:p>
          <a:p>
            <a:pPr>
              <a:spcBef>
                <a:spcPts val="100"/>
              </a:spcBef>
            </a:pPr>
            <a:r>
              <a:rPr sz="1000">
                <a:solidFill>
                  <a:srgbClr val="333333"/>
                </a:solidFill>
                <a:latin typeface="Calibri"/>
              </a:rPr>
              <a:t>•  Final demo preparation; project report; viva/presentation prep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Potential enhancements and research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143000"/>
            <a:ext cx="3703320" cy="2377440"/>
          </a:xfrm>
          <a:prstGeom prst="roundRect">
            <a:avLst/>
          </a:prstGeom>
          <a:solidFill>
            <a:srgbClr val="EEEFFE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" y="1216152"/>
            <a:ext cx="3557016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Multi-Frequency Parallel</a:t>
            </a:r>
            <a:br/>
            <a:r>
              <a:t>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801368"/>
            <a:ext cx="3429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Transmit multiple chars simultaneously using
different frequency sub-bands; reduce total
cycle from 2.3s to &lt;0.5s; OFDM-like approach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1143000"/>
            <a:ext cx="3703320" cy="2377440"/>
          </a:xfrm>
          <a:prstGeom prst="roundRect">
            <a:avLst/>
          </a:prstGeom>
          <a:solidFill>
            <a:srgbClr val="E0F7FA"/>
          </a:solidFill>
          <a:ln w="254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216152"/>
            <a:ext cx="3557016" cy="5029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Progressive Web App</a:t>
            </a:r>
            <a:br/>
            <a:r>
              <a:t>(PWA)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801368"/>
            <a:ext cx="3429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Service worker for offline caching; push
notifications for session reminders; home-
screen installability on mobile devices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143000"/>
            <a:ext cx="3703320" cy="237744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19872" y="1216152"/>
            <a:ext cx="3557016" cy="5029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Analytics &amp;</a:t>
            </a:r>
            <a:br/>
            <a:r>
              <a:t>Reporting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801368"/>
            <a:ext cx="3429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Class-wise attendance trends; student
engagement metrics; exportable CSV/PDF;
automatic low-attendance email alerts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3749039"/>
            <a:ext cx="3703320" cy="237744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7472" y="3822191"/>
            <a:ext cx="3557016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AI-Based Anomaly</a:t>
            </a:r>
            <a:br/>
            <a:r>
              <a:t>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407407"/>
            <a:ext cx="3429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ML models to detect unusual patterns:
sudden spikes, impossible timing, statistical
outliers; flag for manual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749039"/>
            <a:ext cx="3703320" cy="2377440"/>
          </a:xfrm>
          <a:prstGeom prst="roundRect">
            <a:avLst/>
          </a:prstGeom>
          <a:solidFill>
            <a:srgbClr val="FEF3E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33672" y="3822191"/>
            <a:ext cx="3557016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LMS &amp; ERP</a:t>
            </a:r>
            <a:br/>
            <a:r>
              <a:t>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407407"/>
            <a:ext cx="3429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REST APIs for Moodle, Google Classroom,
university ERP; automatic gradebook sync;
centralized student records management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749039"/>
            <a:ext cx="3703320" cy="2377440"/>
          </a:xfrm>
          <a:prstGeom prst="roundRect">
            <a:avLst/>
          </a:prstGeom>
          <a:solidFill>
            <a:srgbClr val="E6FAF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19872" y="3822191"/>
            <a:ext cx="3557016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Multi-Room Frequency</a:t>
            </a:r>
            <a:br/>
            <a:r>
              <a:t>Isolation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4407407"/>
            <a:ext cx="3429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Unique frequency bands per classroom;
dynamic allocation based on room proximity;
avoid cross-room signal interference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228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⚡ SMAT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IIIT Surat  •  Dept. of Electronics &amp; Communication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[1]  R. Nandakumar, K. K. Chintalapudi, V. Padmanabhan, R. Venkatesan, "Dhwani: Secure Peer-to-Peer Acoustic NFC,"
       ACM SIGCOMM Computer Communication Review, Vol. 43, No. 4, pp. 63–74, 2013.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[2]  W3C, "Web Audio API," W3C Recommendation, June 2021. Available: https://www.w3.org/TR/webaudio/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[3]  A. Madhavapeddy et al., "Audio Networking: The Forgotten Wireless Technology," IEEE Pervasive Computing,
       Vol. 4, No. 3, pp. 55–60, 2005.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[4]  Google Developers, "Nearby Connections API — Audio-based proximity detection for Android &amp; iOS," 2023.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[5]  Chirp.io (Asio Ltd.), "Data-over-sound: Sending data using near-ultrasonic audio," Technical Whitepaper, 2020.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[6]  S. Chowdhury et al., "QR Code Based Attendance System," Int. Journal of Computer Applications, 2019.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[7]  T. S. Lim et al., "GPS-based Attendance: Vulnerabilities and Countermeasures," IEEE Access, 2020.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[8]  Mozilla Developer Network, "Web Audio API Guide," MDN Web Docs. Available: https://developer.mozilla.org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[9]  Express.js Contributors, "Express 5.x API Reference," expressjs.com, 2024.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[10] PostgreSQL Global Development Group, "PostgreSQL 16 Documentation," postgresql.org, 2024.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[11] Redis Ltd., "Redis 7.x Documentation and Command Reference," redis.io, 2024.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[12] Auth0 Inc., "Introduction to JSON Web Tokens (JWT)," jwt.io. Available: https://jwt.io/introduction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333333"/>
                </a:solidFill>
                <a:latin typeface="Calibri"/>
              </a:rPr>
              <a:t>[13] Docker Inc., "Docker Compose Specification," docs.docker.com, 2024.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2011680"/>
            <a:ext cx="48737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SMAT: Smart Attendance System Using Ultrasonic Audio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931920"/>
            <a:ext cx="213055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4748B"/>
                </a:solidFill>
                <a:latin typeface="Calibri"/>
              </a:rPr>
              <a:t>We welcome your feedback and suggestions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Indian Institute of Information Technology Surat
Department of Electronics and Communication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